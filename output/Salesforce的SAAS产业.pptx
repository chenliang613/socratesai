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1097280"/>
            <a:ext cx="1371600" cy="13716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2377440"/>
            <a:ext cx="2194560" cy="2194560"/>
          </a:xfrm>
          <a:prstGeom prst="ellipse">
            <a:avLst/>
          </a:prstGeom>
          <a:noFill/>
          <a:ln w="16510">
            <a:solidFill>
              <a:srgbClr val="2A4D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93776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051560"/>
            <a:ext cx="640080" cy="508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B8E0"/>
                </a:solidFill>
                <a:latin typeface="Microsoft YaHei"/>
              </a:rPr>
              <a:t>AI 产业六层模型 · 应用层 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6949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Salesforce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Microsoft YaHei"/>
              </a:rPr>
              <a:t>的 SaaS 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B6B7B"/>
                </a:solidFill>
                <a:latin typeface="Microsoft YaHei"/>
              </a:rPr>
              <a:t>从 CRM 龙头到 </a:t>
            </a:r>
            <a:r>
              <a:rPr sz="1900" b="1" i="0">
                <a:solidFill>
                  <a:srgbClr val="F59E0B"/>
                </a:solidFill>
                <a:latin typeface="Microsoft YaHei"/>
              </a:rPr>
              <a:t>Agentforce、Data Cloud</a:t>
            </a:r>
            <a:r>
              <a:rPr sz="1900" b="0" i="0">
                <a:solidFill>
                  <a:srgbClr val="5B6B7B"/>
                </a:solidFill>
                <a:latin typeface="Microsoft YaHei"/>
              </a:rPr>
              <a:t> 的智能化重构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937760"/>
            <a:ext cx="4206240" cy="15240"/>
          </a:xfrm>
          <a:prstGeom prst="rect">
            <a:avLst/>
          </a:prstGeom>
          <a:solidFill>
            <a:srgbClr val="335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应用层是价值最终被兑现的一层 ——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从「按席位卖软件」走向「按结果卖能力」。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E849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目录 · 分析框架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应用层 · Salesforce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7239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463040"/>
            <a:ext cx="82296" cy="72390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100584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463040"/>
            <a:ext cx="292608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公司定位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609344"/>
            <a:ext cx="15240" cy="431292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463040"/>
            <a:ext cx="585216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CRM 龙头到客户全景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296668"/>
            <a:ext cx="10607040" cy="7239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296668"/>
            <a:ext cx="82296" cy="72390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296668"/>
            <a:ext cx="100584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296668"/>
            <a:ext cx="292608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商业模式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442972"/>
            <a:ext cx="15240" cy="431292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2296668"/>
            <a:ext cx="585216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从按席位到按结果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130296"/>
            <a:ext cx="10607040" cy="7239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3130296"/>
            <a:ext cx="82296" cy="723900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3130296"/>
            <a:ext cx="100584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130296"/>
            <a:ext cx="292608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AI 重构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276600"/>
            <a:ext cx="15240" cy="431292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3130296"/>
            <a:ext cx="585216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Agentforce + Data Cloud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3963924"/>
            <a:ext cx="10607040" cy="7239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3963924"/>
            <a:ext cx="82296" cy="723900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963924"/>
            <a:ext cx="100584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59E0B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3963924"/>
            <a:ext cx="292608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产业护城河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4110228"/>
            <a:ext cx="15240" cy="431292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3963924"/>
            <a:ext cx="585216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数据 + 生态 + 切换成本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797552"/>
            <a:ext cx="10607040" cy="7239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797552"/>
            <a:ext cx="82296" cy="723900"/>
          </a:xfrm>
          <a:prstGeom prst="roundRect">
            <a:avLst>
              <a:gd name="adj" fmla="val 6000"/>
            </a:avLst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4797552"/>
            <a:ext cx="100584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5B8E0"/>
                </a:solidFill>
                <a:latin typeface="Microsoft YaHe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4797552"/>
            <a:ext cx="292608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产业分工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4943856"/>
            <a:ext cx="15240" cy="431292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4797552"/>
            <a:ext cx="585216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云之上 · 整合模型 · 连生态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631180"/>
            <a:ext cx="10607040" cy="7239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77240" y="5631180"/>
            <a:ext cx="82296" cy="72390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5631180"/>
            <a:ext cx="100584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5631180"/>
            <a:ext cx="292608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挑战与判断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4920" y="5777484"/>
            <a:ext cx="15240" cy="431292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9240" y="5631180"/>
            <a:ext cx="5852160" cy="7239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去 UI 化与被中介化风险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01 公司定位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Salesforce：CRM 龙头到「客户全景 + Agent」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03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应用层 · Salesforce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全球 CRM 市场领导者，以 Customer 360 整合销售、服务、营销，正向「Agent 驱动的应用」演进。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基本盘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CRM 第一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销售/服务/营销云构成的客户关系管理龙头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整合层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Customer 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统一客户全景数据与业务能力中台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Data Cloud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实时客户数据平台，喂养 AI 与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智能层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Agentforce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面向业务场景的自主 Agent 平台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02 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从「按席位订阅」到「按结果计费」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04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应用层 · Salesforce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传统 SaaS 按用户席位订阅；Agent 自动办事后，Salesforce 以 Agentforce 探索按对话/按结果计费。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5B6B7B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传统模式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按席位（per seat）订阅收费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417570"/>
            <a:ext cx="146304" cy="146304"/>
          </a:xfrm>
          <a:prstGeom prst="rect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收入与「使用软件的人数」绑定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74820"/>
            <a:ext cx="146304" cy="146304"/>
          </a:xfrm>
          <a:prstGeom prst="rect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扩张靠加坐席、加模块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5132070"/>
            <a:ext cx="146304" cy="146304"/>
          </a:xfrm>
          <a:prstGeom prst="rect">
            <a:avLst/>
          </a:prstGeom>
          <a:solidFill>
            <a:srgbClr val="5B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价值锚定在「人用界面的效率」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新模式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Agentforce 按对话/按完成结果计费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4175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收入与「办成的业务量」绑定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42748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Agent 替代人工操作，突破席位天花板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51320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价值锚定在「交付的业务结果」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当 Agent 替人办事，计费基准从「有多少人在用」转向「办成了多少事」—— 定价逻辑被重构。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03 AI 重构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Agentforce 与 Data Cloud：应用层的 AI 重构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05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应用层 · Salesforce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Salesforce 的 AI 战略是「可信数据 + 自主 Agent」：让 Agent 基于企业自有数据安全地办事。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Data Cloud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数据底座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统一实时客户数据，为 Agent 提供可信上下文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Agentforce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自主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在销售/服务等场景自动完成任务流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Einstein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AI 能力层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预测/生成式 AI 嵌入业务流程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Trust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信任护栏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权限、合规、审计，保障 Agent 可控可信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04 产业护城河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Salesforce 的三道壁垒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06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应用层 · Salesforce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2043684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0436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数据护城河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沉淀多年的客户关系数据 + Data Cloud，是 Agent 办事的独有上下文。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7719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7719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生态护城河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355848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191256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AppExchange 应用市场 + 庞大 ISV/咨询伙伴网络，形成平台引力。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19472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500116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5001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19472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切换成本护城河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084064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919472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深度嵌入企业核心业务流程与组织习惯，替换成本极高、客户留存强。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05 产业分工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应用层的位置：站在云之上，整合模型，连接生态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07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应用层 · Salesforce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Salesforce 处于价值链最上层，向下依赖云与模型，向外依靠生态，把能力兑现为业务结果。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5B8E0"/>
                </a:solidFill>
                <a:latin typeface="Microsoft YaHei"/>
              </a:rPr>
              <a:t>向下 · 基础设施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依赖超大规模云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底层算力/存储运行在超大规模云之上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向下 · 模型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整合多家模型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通过 Einstein/Agentforce 接入 OpenAI、Anthropic 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向外 · 生态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AppExchange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ISV、咨询伙伴在平台上扩展场景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向上 · 客户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交付业务结果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面向企业业务部门，兑现可量化 ROI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06 挑战与判断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去 UI 化与「被中介化」风险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08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应用层 · Salesforce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当 Agent 成为新入口，应用层最大的风险是沦为「被调用的后端」，失去与用户的直接触点。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风险与挑战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平台级 Agent 中介化，抢走用户入口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319272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去 UI 化削弱界面/体验差异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078224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能力被比价，沦为可替换的调用后端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837176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模型与数据平台向上挤压应用层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596128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按结果计费冲击传统席位收入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应对与判断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用 Agentforce 主动成为「能力供给方」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319272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以独有数据 + 业务结果筑壁垒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4078224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把能力 API 化，进入各类 Agent 工作流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837176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Trust Layer 把「可信」做成差异点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596128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向「结果型 Agentic SaaS」转型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STRATEGIC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三个必须记住的判断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09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10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应用层 · Salesforce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2043684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0436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从席位到结果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Agent 替人办事，使计费从「按人」转向「按完成的业务结果」。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7719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7719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数据是新护城河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355848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191256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界面可复刻、能力会被比价，独有客户数据与可靠执行才是壁垒。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19472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500116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5001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19472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主动拥抱去 UI 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084064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919472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与其被平台 Agent 中介化，不如主动成为被调用的能力供给方。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B8E0"/>
                </a:solidFill>
                <a:latin typeface="Microsoft YaHe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从卖软件，到卖办成的结果。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当软件去 UI 化、Agent 成为入口，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Salesforce 用数据 + 生态 + 可信执行，守住应用层的价值兑现权。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75504" y="4800600"/>
            <a:ext cx="1828800" cy="254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Salesforce · 应用层分析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E93A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