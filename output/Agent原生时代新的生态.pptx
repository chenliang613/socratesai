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109728" cy="457200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945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46A5E"/>
                </a:solidFill>
                <a:latin typeface="Microsoft YaHei"/>
              </a:rPr>
              <a:t>AGENT 原生时代 · 企业 AI 落地架构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B1F33"/>
                </a:solidFill>
                <a:latin typeface="Microsoft YaHei"/>
              </a:rPr>
              <a:t>企业应用 · SaaS 厂商 · AI 模型厂商：通过 Agent 调用，让 AI 在企业落地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152144"/>
            <a:ext cx="106070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152144"/>
            <a:ext cx="91440" cy="128016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1307592"/>
            <a:ext cx="1965960" cy="402336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307592"/>
            <a:ext cx="19659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企业应用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307592"/>
            <a:ext cx="78638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B6B7B"/>
                </a:solidFill>
                <a:latin typeface="Microsoft YaHei"/>
              </a:rPr>
              <a:t>业务场景 · 一线员工 · 真实流程 —— AI 落地的需求方与价值兑现处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810512"/>
            <a:ext cx="2327148" cy="51206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43584" y="2002536"/>
            <a:ext cx="128016" cy="1280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81328" y="1810512"/>
            <a:ext cx="182422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B1F33"/>
                </a:solidFill>
                <a:latin typeface="Microsoft YaHei"/>
              </a:rPr>
              <a:t>业务部门发起需求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43884" y="1810512"/>
            <a:ext cx="2327148" cy="51206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90188" y="2002536"/>
            <a:ext cx="128016" cy="1280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7932" y="1810512"/>
            <a:ext cx="182422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B1F33"/>
                </a:solidFill>
                <a:latin typeface="Microsoft YaHei"/>
              </a:rPr>
              <a:t>嵌入日常工作流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1810512"/>
            <a:ext cx="2327148" cy="51206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36792" y="2002536"/>
            <a:ext cx="128016" cy="1280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74536" y="1810512"/>
            <a:ext cx="182422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B1F33"/>
                </a:solidFill>
                <a:latin typeface="Microsoft YaHei"/>
              </a:rPr>
              <a:t>数据与权限归企业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7092" y="1810512"/>
            <a:ext cx="2327148" cy="51206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83396" y="2002536"/>
            <a:ext cx="128016" cy="1280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1140" y="1810512"/>
            <a:ext cx="182422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B1F33"/>
                </a:solidFill>
                <a:latin typeface="Microsoft YaHei"/>
              </a:rPr>
              <a:t>按业务结果衡量 ROI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85816" y="2487168"/>
            <a:ext cx="1417320" cy="384048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85816" y="2487168"/>
            <a:ext cx="1417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Agent 调用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4928616" y="2487168"/>
            <a:ext cx="274320" cy="384048"/>
          </a:xfrm>
          <a:prstGeom prst="downArrow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Up Arrow 26"/>
          <p:cNvSpPr/>
          <p:nvPr/>
        </p:nvSpPr>
        <p:spPr>
          <a:xfrm>
            <a:off x="6986016" y="2487168"/>
            <a:ext cx="274320" cy="384048"/>
          </a:xfrm>
          <a:prstGeom prst="upArrow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2432304"/>
            <a:ext cx="41605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46A5E"/>
                </a:solidFill>
                <a:latin typeface="Microsoft YaHei"/>
              </a:rPr>
              <a:t>▼ 调用：</a:t>
            </a:r>
            <a:r>
              <a:rPr sz="1100" b="0" i="0">
                <a:solidFill>
                  <a:srgbClr val="0B1F33"/>
                </a:solidFill>
                <a:latin typeface="Microsoft YaHei"/>
              </a:rPr>
              <a:t>企业把业务任务交给 Agent，由其调用 SaaS 能力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2432304"/>
            <a:ext cx="42062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46A5E"/>
                </a:solidFill>
                <a:latin typeface="Microsoft YaHei"/>
              </a:rPr>
              <a:t>▲ 返回：</a:t>
            </a:r>
            <a:r>
              <a:rPr sz="1100" b="0" i="0">
                <a:solidFill>
                  <a:srgbClr val="0B1F33"/>
                </a:solidFill>
                <a:latin typeface="Microsoft YaHei"/>
              </a:rPr>
              <a:t>SaaS Agent 办成事，结果回流到业务流程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2926080"/>
            <a:ext cx="106070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77240" y="2926080"/>
            <a:ext cx="91440" cy="1280160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51560" y="3081528"/>
            <a:ext cx="1965960" cy="402336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3081528"/>
            <a:ext cx="19659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SaaS 厂商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3081528"/>
            <a:ext cx="78638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B6B7B"/>
                </a:solidFill>
                <a:latin typeface="Microsoft YaHei"/>
              </a:rPr>
              <a:t>把模型能力 Agent 化，封装进业务场景 —— 连接企业与模型的中间层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7280" y="3584448"/>
            <a:ext cx="2327148" cy="51206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43584" y="3776472"/>
            <a:ext cx="128016" cy="128016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81328" y="3584448"/>
            <a:ext cx="182422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B1F33"/>
                </a:solidFill>
                <a:latin typeface="Microsoft YaHei"/>
              </a:rPr>
              <a:t>Agent 化业务应用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43884" y="3584448"/>
            <a:ext cx="2327148" cy="51206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790188" y="3776472"/>
            <a:ext cx="128016" cy="128016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27932" y="3584448"/>
            <a:ext cx="182422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B1F33"/>
                </a:solidFill>
                <a:latin typeface="Microsoft YaHei"/>
              </a:rPr>
              <a:t>行业 know-how / 工作流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3584448"/>
            <a:ext cx="2327148" cy="51206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36792" y="3776472"/>
            <a:ext cx="128016" cy="128016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74536" y="3584448"/>
            <a:ext cx="182422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B1F33"/>
                </a:solidFill>
                <a:latin typeface="Microsoft YaHei"/>
              </a:rPr>
              <a:t>私有数据接入与治理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737092" y="3584448"/>
            <a:ext cx="2327148" cy="51206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883396" y="3776472"/>
            <a:ext cx="128016" cy="128016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21140" y="3584448"/>
            <a:ext cx="182422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B1F33"/>
                </a:solidFill>
                <a:latin typeface="Microsoft YaHei"/>
              </a:rPr>
              <a:t>系统 / 工具编排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385816" y="4261104"/>
            <a:ext cx="1417320" cy="384048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85816" y="4261104"/>
            <a:ext cx="1417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Agent 调用</a:t>
            </a:r>
          </a:p>
        </p:txBody>
      </p:sp>
      <p:sp>
        <p:nvSpPr>
          <p:cNvPr id="49" name="Down Arrow 48"/>
          <p:cNvSpPr/>
          <p:nvPr/>
        </p:nvSpPr>
        <p:spPr>
          <a:xfrm>
            <a:off x="4928616" y="4261104"/>
            <a:ext cx="274320" cy="384048"/>
          </a:xfrm>
          <a:prstGeom prst="downArrow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Up Arrow 49"/>
          <p:cNvSpPr/>
          <p:nvPr/>
        </p:nvSpPr>
        <p:spPr>
          <a:xfrm>
            <a:off x="6986016" y="4261104"/>
            <a:ext cx="274320" cy="384048"/>
          </a:xfrm>
          <a:prstGeom prst="upArrow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8680" y="4206240"/>
            <a:ext cx="41605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46A5E"/>
                </a:solidFill>
                <a:latin typeface="Microsoft YaHei"/>
              </a:rPr>
              <a:t>▼ 调用：</a:t>
            </a:r>
            <a:r>
              <a:rPr sz="1100" b="0" i="0">
                <a:solidFill>
                  <a:srgbClr val="0B1F33"/>
                </a:solidFill>
                <a:latin typeface="Microsoft YaHei"/>
              </a:rPr>
              <a:t>SaaS 通过 Agent 调用模型推理与工具能力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78040" y="4206240"/>
            <a:ext cx="42062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46A5E"/>
                </a:solidFill>
                <a:latin typeface="Microsoft YaHei"/>
              </a:rPr>
              <a:t>▲ 返回：</a:t>
            </a:r>
            <a:r>
              <a:rPr sz="1100" b="0" i="0">
                <a:solidFill>
                  <a:srgbClr val="0B1F33"/>
                </a:solidFill>
                <a:latin typeface="Microsoft YaHei"/>
              </a:rPr>
              <a:t>模型返回决策 / 生成，工具返回执行结果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7240" y="4700016"/>
            <a:ext cx="106070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77240" y="4700016"/>
            <a:ext cx="91440" cy="1280160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051560" y="4855464"/>
            <a:ext cx="1965960" cy="402336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51560" y="4855464"/>
            <a:ext cx="19659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AI 模型厂商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0" y="4855464"/>
            <a:ext cx="78638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B6B7B"/>
                </a:solidFill>
                <a:latin typeface="Microsoft YaHei"/>
              </a:rPr>
              <a:t>推理 · 规划 · 可靠工具调用 —— Agent 的智能底座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97280" y="5358384"/>
            <a:ext cx="2327148" cy="51206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243584" y="5550408"/>
            <a:ext cx="128016" cy="128016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481328" y="5358384"/>
            <a:ext cx="182422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B1F33"/>
                </a:solidFill>
                <a:latin typeface="Microsoft YaHei"/>
              </a:rPr>
              <a:t>基础模型与推理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643884" y="5358384"/>
            <a:ext cx="2327148" cy="51206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790188" y="5550408"/>
            <a:ext cx="128016" cy="128016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027932" y="5358384"/>
            <a:ext cx="182422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B1F33"/>
                </a:solidFill>
                <a:latin typeface="Microsoft YaHei"/>
              </a:rPr>
              <a:t>工具调用 / 函数执行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90488" y="5358384"/>
            <a:ext cx="2327148" cy="51206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36792" y="5550408"/>
            <a:ext cx="128016" cy="128016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74536" y="5358384"/>
            <a:ext cx="182422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B1F33"/>
                </a:solidFill>
                <a:latin typeface="Microsoft YaHei"/>
              </a:rPr>
              <a:t>安全对齐与护栏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737092" y="5358384"/>
            <a:ext cx="2327148" cy="51206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883396" y="5550408"/>
            <a:ext cx="128016" cy="128016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21140" y="5358384"/>
            <a:ext cx="182422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B1F33"/>
                </a:solidFill>
                <a:latin typeface="Microsoft YaHei"/>
              </a:rPr>
              <a:t>API / MCP 开放接口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77240" y="6089904"/>
            <a:ext cx="10607040" cy="365760"/>
          </a:xfrm>
          <a:prstGeom prst="roundRect">
            <a:avLst>
              <a:gd name="adj" fmla="val 6000"/>
            </a:avLst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77240" y="6089904"/>
            <a:ext cx="10607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1F33"/>
                </a:solidFill>
                <a:latin typeface="Microsoft YaHei"/>
              </a:rPr>
              <a:t>企业 AI 落地 = 模型智能 × SaaS 场景封装 × 企业流程承接 ——  三者经 Agent 调用链上下协同、闭环交付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48640" y="6583680"/>
            <a:ext cx="10058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Agent 原生时代 · 模型 / SaaS / 企业应用三层协作架构    |    chenliang  ·  2026-06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