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37744"/>
            <a:ext cx="109728" cy="457200"/>
          </a:xfrm>
          <a:prstGeom prst="rect">
            <a:avLst/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46A5E"/>
                </a:solidFill>
                <a:latin typeface="Microsoft YaHei"/>
              </a:rPr>
              <a:t>AGENT 时代 · 三大云 AI 服务对标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2062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B1F33"/>
                </a:solidFill>
                <a:latin typeface="Microsoft YaHei"/>
              </a:rPr>
              <a:t>AI 原生层次化架构：Google Cloud × AWS × Azure 殊途同归的八层收敛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69264"/>
            <a:ext cx="12191695" cy="15240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12344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8A98A6"/>
                </a:solidFill>
                <a:latin typeface="Microsoft YaHei"/>
              </a:rPr>
              <a:t>八层架构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64792" y="1078992"/>
            <a:ext cx="3082442" cy="365760"/>
          </a:xfrm>
          <a:prstGeom prst="roundRect">
            <a:avLst>
              <a:gd name="adj" fmla="val 6000"/>
            </a:avLst>
          </a:prstGeom>
          <a:solidFill>
            <a:srgbClr val="1B6EF3"/>
          </a:solidFill>
          <a:ln>
            <a:noFill/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64792" y="1106424"/>
            <a:ext cx="308244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Google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280160"/>
            <a:ext cx="308244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 i="0">
                <a:solidFill>
                  <a:srgbClr val="FFFFFF"/>
                </a:solidFill>
                <a:latin typeface="Microsoft YaHei"/>
              </a:rPr>
              <a:t>全栈自研 · 模型驱动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20386" y="1078992"/>
            <a:ext cx="3082442" cy="36576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20386" y="1106424"/>
            <a:ext cx="308244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AWS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20386" y="1280160"/>
            <a:ext cx="308244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 i="0">
                <a:solidFill>
                  <a:srgbClr val="FFFFFF"/>
                </a:solidFill>
                <a:latin typeface="Microsoft YaHei"/>
              </a:rPr>
              <a:t>开放组合 · 基础设施驱动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5980" y="1078992"/>
            <a:ext cx="3082442" cy="365760"/>
          </a:xfrm>
          <a:prstGeom prst="roundRect">
            <a:avLst>
              <a:gd name="adj" fmla="val 6000"/>
            </a:avLst>
          </a:prstGeom>
          <a:solidFill>
            <a:srgbClr val="35B8E0"/>
          </a:solidFill>
          <a:ln>
            <a:noFill/>
          </a:ln>
          <a:effectLst/>
          <a:effectLst>
            <a:outerShdw blurRad="90000" dist="40000" dir="5400000" rotWithShape="0">
              <a:srgbClr val="0B1F33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5980" y="1106424"/>
            <a:ext cx="308244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Azure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5980" y="1280160"/>
            <a:ext cx="308244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" b="0" i="0">
                <a:solidFill>
                  <a:srgbClr val="FFFFFF"/>
                </a:solidFill>
                <a:latin typeface="Microsoft YaHei"/>
              </a:rPr>
              <a:t>生态嵌入 · Copilot 驱动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1517904"/>
            <a:ext cx="1234440" cy="446085"/>
          </a:xfrm>
          <a:prstGeom prst="roundRect">
            <a:avLst>
              <a:gd name="adj" fmla="val 6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1517904"/>
            <a:ext cx="1143000" cy="4460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</a:rPr>
              <a:t>SaaS 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C2CEDB"/>
                </a:solidFill>
                <a:latin typeface="Microsoft YaHei"/>
              </a:rPr>
              <a:t>场景价值兑现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64792" y="1517904"/>
            <a:ext cx="3082442" cy="44608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83664" y="1517904"/>
            <a:ext cx="2862986" cy="4460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B6EF3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Google Workspace（Gemini 内嵌）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B6EF3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行业方案 · ISV 市场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20386" y="1517904"/>
            <a:ext cx="3082442" cy="44608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39258" y="1517904"/>
            <a:ext cx="2862986" cy="4460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59E0B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Amazon Connect · Supply Chain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59E0B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Marketplace（三方 SaaS 生态）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5980" y="1517904"/>
            <a:ext cx="3082442" cy="44608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4852" y="1517904"/>
            <a:ext cx="2862986" cy="4460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B8E0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Microsoft 365 / Dynamics 365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B8E0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Teams · Power Platform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014281"/>
            <a:ext cx="1234440" cy="446085"/>
          </a:xfrm>
          <a:prstGeom prst="roundRect">
            <a:avLst>
              <a:gd name="adj" fmla="val 6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014281"/>
            <a:ext cx="1143000" cy="4460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</a:rPr>
              <a:t>Agent 应用层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C2CEDB"/>
                </a:solidFill>
                <a:latin typeface="Microsoft YaHei"/>
              </a:rPr>
              <a:t>开箱即用助手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64792" y="2014281"/>
            <a:ext cx="3082442" cy="44608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83664" y="2014281"/>
            <a:ext cx="2862986" cy="4460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B6EF3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Gemini Enterprise · Code Assist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B6EF3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Customer Engagement Suite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20386" y="2014281"/>
            <a:ext cx="3082442" cy="44608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39258" y="2014281"/>
            <a:ext cx="2862986" cy="4460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59E0B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Amazon Q Business / Q Developer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59E0B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Kiro（Agentic IDE）· AWS Transform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5980" y="2014281"/>
            <a:ext cx="3082442" cy="44608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4852" y="2014281"/>
            <a:ext cx="2862986" cy="4460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B8E0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M365 Copilot · GitHub Copilot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B8E0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Copilot Studio（低代码 Agent）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2510659"/>
            <a:ext cx="1234440" cy="579911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510659"/>
            <a:ext cx="1143000" cy="579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</a:rPr>
              <a:t>Agent 平台层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C2CEDB"/>
                </a:solidFill>
                <a:latin typeface="Microsoft YaHei"/>
              </a:rPr>
              <a:t>开发·运行·治理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764792" y="2510659"/>
            <a:ext cx="3082442" cy="579911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>
            <a:solidFill>
              <a:srgbClr val="F4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83664" y="2510659"/>
            <a:ext cx="2862986" cy="579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B6EF3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Vertex AI Agent Builder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B6EF3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Agent Engine（运行时·记忆）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B6EF3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ADK 开源框架 + A2A 协议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20386" y="2510659"/>
            <a:ext cx="3082442" cy="579911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>
            <a:solidFill>
              <a:srgbClr val="F4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39258" y="2510659"/>
            <a:ext cx="2862986" cy="579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59E0B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Bedrock AgentCore（Runtime·Memory）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59E0B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AgentCore Gateway · Identity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59E0B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Strands Agents SDK（任意框架）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75980" y="2510659"/>
            <a:ext cx="3082442" cy="579911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9050">
            <a:solidFill>
              <a:srgbClr val="F46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94852" y="2510659"/>
            <a:ext cx="2862986" cy="579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B8E0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Foundry Agent Service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B8E0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Agent Framework（SK + AutoGen）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B8E0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Agent 365（Agent 管控面）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67951" y="2419219"/>
            <a:ext cx="1508760" cy="219456"/>
          </a:xfrm>
          <a:prstGeom prst="roundRect">
            <a:avLst>
              <a:gd name="adj" fmla="val 6000"/>
            </a:avLst>
          </a:prstGeom>
          <a:solidFill>
            <a:srgbClr val="F46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67951" y="2419219"/>
            <a:ext cx="1508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i="0">
                <a:solidFill>
                  <a:srgbClr val="FFFFFF"/>
                </a:solidFill>
                <a:latin typeface="Microsoft YaHei"/>
              </a:rPr>
              <a:t>Agent 时代新增核心层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140862"/>
            <a:ext cx="1234440" cy="446085"/>
          </a:xfrm>
          <a:prstGeom prst="roundRect">
            <a:avLst>
              <a:gd name="adj" fmla="val 6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3140862"/>
            <a:ext cx="1143000" cy="4460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</a:rPr>
              <a:t>AI 安全治理层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C2CEDB"/>
                </a:solidFill>
                <a:latin typeface="Microsoft YaHei"/>
              </a:rPr>
              <a:t>信任与合规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764792" y="3140862"/>
            <a:ext cx="3082442" cy="44608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83664" y="3140862"/>
            <a:ext cx="2862986" cy="4460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B6EF3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Model Armor · SAIF 安全框架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B6EF3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Security Command Center AI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20386" y="3140862"/>
            <a:ext cx="3082442" cy="44608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39258" y="3140862"/>
            <a:ext cx="2862986" cy="4460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59E0B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Bedrock Guardrails（安全护栏）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59E0B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AgentCore Identity · GuardDuty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75980" y="3140862"/>
            <a:ext cx="3082442" cy="44608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94852" y="3140862"/>
            <a:ext cx="2862986" cy="4460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B8E0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AI Content Safety · Entra Agent ID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B8E0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Purview · Defender for AI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3637240"/>
            <a:ext cx="1234440" cy="446085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3637240"/>
            <a:ext cx="1143000" cy="4460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</a:rPr>
              <a:t>知识层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C2CEDB"/>
                </a:solidFill>
                <a:latin typeface="Microsoft YaHei"/>
              </a:rPr>
              <a:t>供 Agent 调用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764792" y="3637240"/>
            <a:ext cx="3082442" cy="44608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83664" y="3637240"/>
            <a:ext cx="2862986" cy="4460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B6EF3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Vertex AI Search · RAG Engine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B6EF3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AlloyDB / Spanner 向量检索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20386" y="3637240"/>
            <a:ext cx="3082442" cy="44608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39258" y="3637240"/>
            <a:ext cx="2862986" cy="4460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59E0B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Bedrock Knowledge Bases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59E0B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S3 Vectors · OpenSearch · Kendra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75980" y="3637240"/>
            <a:ext cx="3082442" cy="44608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94852" y="3637240"/>
            <a:ext cx="2862986" cy="4460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B8E0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Azure AI Search（混合检索）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B8E0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Cosmos DB（向量·记忆）· Fabric IQ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4133618"/>
            <a:ext cx="1234440" cy="579911"/>
          </a:xfrm>
          <a:prstGeom prst="roundRect">
            <a:avLst>
              <a:gd name="adj" fmla="val 6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4133618"/>
            <a:ext cx="1143000" cy="579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</a:rPr>
              <a:t>Tokens 工厂层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C2CEDB"/>
                </a:solidFill>
                <a:latin typeface="Microsoft YaHei"/>
              </a:rPr>
              <a:t>数据+算力→智能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764792" y="4133618"/>
            <a:ext cx="3082442" cy="579911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883664" y="4133618"/>
            <a:ext cx="2862986" cy="579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B6EF3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Gemini 3 系列 · Gemma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B6EF3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Veo / Imagen 多模态生成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B6EF3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Model Garden（200+ 模型）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920386" y="4133618"/>
            <a:ext cx="3082442" cy="579911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39258" y="4133618"/>
            <a:ext cx="2862986" cy="579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59E0B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Amazon Nova 自研系列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59E0B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Bedrock 多模型（Claude 等）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59E0B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SageMaker AI（训练·微调·推理）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075980" y="4133618"/>
            <a:ext cx="3082442" cy="579911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194852" y="4133618"/>
            <a:ext cx="2862986" cy="579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B8E0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Azure OpenAI（GPT-5 系列）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B8E0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MAI / Phi 自研模型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B8E0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Foundry Models（万级目录）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7200" y="4763821"/>
            <a:ext cx="1234440" cy="646824"/>
          </a:xfrm>
          <a:prstGeom prst="roundRect">
            <a:avLst>
              <a:gd name="adj" fmla="val 6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4763821"/>
            <a:ext cx="1143000" cy="646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</a:rPr>
              <a:t>数据层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C2CEDB"/>
                </a:solidFill>
                <a:latin typeface="Microsoft YaHei"/>
              </a:rPr>
              <a:t>供模型训练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764792" y="4763821"/>
            <a:ext cx="3082442" cy="39079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883664" y="4763821"/>
            <a:ext cx="2862986" cy="390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B6EF3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BigQuery 湖仓 · Dataflow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B6EF3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Vertex AI 数据集 · 标注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920386" y="4763821"/>
            <a:ext cx="3082442" cy="39079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39258" y="4763821"/>
            <a:ext cx="2862986" cy="390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59E0B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S3 数据湖 · Glue · EMR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59E0B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Clean Rooms · Data Exchange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075980" y="4763821"/>
            <a:ext cx="3082442" cy="390792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194852" y="4763821"/>
            <a:ext cx="2862986" cy="390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B8E0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Microsoft Fabric · OneLake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B8E0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Synapse · Data Factory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764792" y="5191190"/>
            <a:ext cx="9393631" cy="219456"/>
          </a:xfrm>
          <a:prstGeom prst="roundRect">
            <a:avLst>
              <a:gd name="adj" fmla="val 6000"/>
            </a:avLst>
          </a:prstGeom>
          <a:solidFill>
            <a:srgbClr val="ECF1F8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764792" y="5191190"/>
            <a:ext cx="9393631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1" i="0">
                <a:solidFill>
                  <a:srgbClr val="0B1F33"/>
                </a:solidFill>
                <a:latin typeface="Microsoft YaHei"/>
              </a:rPr>
              <a:t>跨云数据平台：Databricks（湖仓一体 · Mosaic AI）｜ Snowflake（AI Data Cloud · Cortex AI）—— 三云均可部署，向上供训练数据与知识检索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7200" y="5460938"/>
            <a:ext cx="1234440" cy="446085"/>
          </a:xfrm>
          <a:prstGeom prst="roundRect">
            <a:avLst>
              <a:gd name="adj" fmla="val 6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02920" y="5460938"/>
            <a:ext cx="1143000" cy="4460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FFFFFF"/>
                </a:solidFill>
                <a:latin typeface="Microsoft YaHei"/>
              </a:rPr>
              <a:t>AI 基础设施层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750" b="0" i="0">
                <a:solidFill>
                  <a:srgbClr val="C2CEDB"/>
                </a:solidFill>
                <a:latin typeface="Microsoft YaHei"/>
              </a:rPr>
              <a:t>算力地基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764792" y="5460938"/>
            <a:ext cx="3082442" cy="44608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883664" y="5460938"/>
            <a:ext cx="2862986" cy="4460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B6EF3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TPU（Trillium / Ironwood）· A3/A4 GPU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1B6EF3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GKE · 动态负载调度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920386" y="5460938"/>
            <a:ext cx="3082442" cy="44608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39258" y="5460938"/>
            <a:ext cx="2862986" cy="4460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59E0B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Trainium / Inferentia · EC2 UltraServers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F59E0B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SageMaker HyperPod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075980" y="5460938"/>
            <a:ext cx="3082442" cy="446085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194852" y="5460938"/>
            <a:ext cx="2862986" cy="4460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B8E0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Maia / Cobalt · ND GB200/GB300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35B8E0"/>
                </a:solidFill>
                <a:latin typeface="Microsoft YaHei"/>
              </a:rPr>
              <a:t>▪ </a:t>
            </a:r>
            <a:r>
              <a:rPr sz="900" b="0" i="0">
                <a:solidFill>
                  <a:srgbClr val="0B1F33"/>
                </a:solidFill>
                <a:latin typeface="Microsoft YaHei"/>
              </a:rPr>
              <a:t>AKS · Azure Boost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1231575" y="1517904"/>
            <a:ext cx="502920" cy="4389120"/>
          </a:xfrm>
          <a:prstGeom prst="roundRect">
            <a:avLst>
              <a:gd name="adj" fmla="val 6000"/>
            </a:avLst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 rot="16200000">
            <a:off x="9288475" y="3483864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</a:rPr>
              <a:t>互操作协议纵贯全栈：MCP（工具调用） · A2A（Agent 协作）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57200" y="5998464"/>
            <a:ext cx="11277295" cy="365760"/>
          </a:xfrm>
          <a:prstGeom prst="roundRect">
            <a:avLst>
              <a:gd name="adj" fmla="val 6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7200" y="5998464"/>
            <a:ext cx="1127729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46A5E"/>
                </a:solidFill>
                <a:latin typeface="Microsoft YaHei"/>
              </a:rPr>
              <a:t>三云殊途同归：</a:t>
            </a:r>
            <a:r>
              <a:rPr sz="1050" b="0" i="0">
                <a:solidFill>
                  <a:srgbClr val="0B1F33"/>
                </a:solidFill>
                <a:latin typeface="Microsoft YaHei"/>
              </a:rPr>
              <a:t>算力 → 数据 → Tokens 工厂 → 知识 → Agent 平台 → Agent 应用 → SaaS 八层收敛，安全治理与 MCP / A2A 纵贯全栈 —— </a:t>
            </a:r>
            <a:r>
              <a:rPr sz="1050" b="1" i="0">
                <a:solidFill>
                  <a:srgbClr val="0B1F33"/>
                </a:solidFill>
                <a:latin typeface="Microsoft YaHei"/>
              </a:rPr>
              <a:t>Agent 平台层是 Agent 时代新的控制点</a:t>
            </a:r>
          </a:p>
        </p:txBody>
      </p:sp>
      <p:sp>
        <p:nvSpPr>
          <p:cNvPr id="89" name="Rectangle 8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8640" y="6583680"/>
            <a:ext cx="100584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50" b="0" i="0">
                <a:solidFill>
                  <a:srgbClr val="C2CEDB"/>
                </a:solidFill>
                <a:latin typeface="Microsoft YaHei"/>
              </a:rPr>
              <a:t>AI 原生架构 · Agent 时代三大云服务分层对标（截至 2026-07 公开信息）    |    chenliang  ·  2026-07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