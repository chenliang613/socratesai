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097280"/>
            <a:ext cx="1371600" cy="13716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2377440"/>
            <a:ext cx="2194560" cy="2194560"/>
          </a:xfrm>
          <a:prstGeom prst="ellipse">
            <a:avLst/>
          </a:prstGeom>
          <a:noFill/>
          <a:ln w="16510">
            <a:solidFill>
              <a:srgbClr val="2A4D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4023360"/>
            <a:ext cx="1737360" cy="17373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0" y="493776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B8E0"/>
                </a:solidFill>
                <a:latin typeface="Microsoft YaHei"/>
              </a:rPr>
              <a:t>AI 产业六层模型 · AGENT 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6949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Anthropic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Microsoft YaHei"/>
              </a:rPr>
              <a:t>的 Agent 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5B6B7B"/>
                </a:solidFill>
                <a:latin typeface="Microsoft YaHei"/>
              </a:rPr>
              <a:t>从模型到 </a:t>
            </a:r>
            <a:r>
              <a:rPr sz="1900" b="1" i="0">
                <a:solidFill>
                  <a:srgbClr val="F59E0B"/>
                </a:solidFill>
                <a:latin typeface="Microsoft YaHei"/>
              </a:rPr>
              <a:t>MCP 协议、Claude Code 与可靠工具调用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937760"/>
            <a:ext cx="4206240" cy="15240"/>
          </a:xfrm>
          <a:prstGeom prst="rect">
            <a:avLst/>
          </a:prstGeom>
          <a:solidFill>
            <a:srgbClr val="335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6858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不做最炫的 Agent，做最可靠的 Agent 底座 ——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用开放协议把生态变成护城河。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E849B"/>
                </a:solidFill>
                <a:latin typeface="Microsoft YaHei"/>
              </a:rPr>
              <a:t>chenliang  · 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目录 · 分析框架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02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Agent 层 · Anthropic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63040"/>
            <a:ext cx="82296" cy="890625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463040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B6EF3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463040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战略延伸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609344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463040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从模型到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463393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463393"/>
            <a:ext cx="82296" cy="890625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463393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4B8A6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463393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能力栈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2609697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2463393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模型 + 工具 + MCP + SDK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463747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463747"/>
            <a:ext cx="82296" cy="890625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463747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7C5CFF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463747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商业模式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3610051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3463747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Agent 基础设施变现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64100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4464100"/>
            <a:ext cx="82296" cy="890625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464100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59E0B"/>
                </a:solidFill>
                <a:latin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464100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产业护城河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4610404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4464100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可靠 · 安全 · MCP 网络效应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464454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7240" y="5464454"/>
            <a:ext cx="82296" cy="890625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464454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46A5E"/>
                </a:solidFill>
                <a:latin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5464454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分工与判断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5610758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5464454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做底座，伙伴做垂直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01 战略延伸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从「卖模型」到「卖会办事的能力」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03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Agent 层 · 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Anthropic 把模型能力向上延伸为 Agent：不止回答问题，更能调用工具、操作系统、完成任务。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从对话到行动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工具调用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模型可自主调用工具/API，把意图变成动作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从单点到流程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任务编排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跨步骤规划与执行，完成多环节任务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从通用到专用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Claude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以编程 Agent 切入开发者高价值场景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从封闭到开放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MCP 协议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用开放协议让能力可被发现与调用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02 能力栈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Anthropic 的 Agent 能力栈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04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Agent 层 · 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Agent = 模型能力 + 工具调用 + 上下文协议 + 开发框架，Anthropic 在每一层提供基础件。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模型层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强推理 + 可靠工具调用，是 Agent 的大脑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工具层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Tool Use / Computer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标准化工具调用，乃至直接操作电脑界面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协议层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Model Context Protocol，连接数据与工具的开放标准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开发层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Agent SDK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构建、编排、部署 Agent 的开发框架与产品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03 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Agent 基础设施变现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05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Agent 层 · 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Agent 让单次任务消耗更多 token、绑定更深的工作流，Anthropic 借此提升用量与客单价。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变现路径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API 工具调用：Agent 推理消耗更多 token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175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Claude Code：开发者订阅 + 用量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748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企业 Agent：安全、合规、私有化增值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320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平台/SDK：构建 Agent 的开发者生态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B6EF3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价值跃迁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从「按问答」到「按完成的任务」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175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Agent 嵌入工作流，粘性与切换成本上升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2748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可靠执行支撑「按结果」的高价值定价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1320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生态调用越多，模型用量越大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Agent 把模型从「被问」变成「被用来办事」，用量与价值随任务复杂度、工作流深度而放大。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04 产业护城河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Anthropic 在 Agent 层的四道壁垒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06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Agent 层 · Anthropic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827657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82765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可靠工具调用壁垒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Agent 的关键是稳定地调对工具、少出错；模型可靠性直接决定可用性。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59202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123819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238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759202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安全与可控壁垒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923794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759202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自主执行风险高，安全/护栏/可审计是企业敢用 Agent 的前提。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55364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419981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41998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055364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MCP 网络效应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219956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055364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开放协议被越多工具/数据源采用，连接价值越大，形成生态标准壁垒。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351526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716143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71614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351526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开发者入口壁垒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5516118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5351526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Claude Code 等抓住开发者，自下而上渗透企业 Agent 建设。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05 分工与判断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做「Agent 底座」，伙伴做垂直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07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Agent 层 · 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Anthropic 选择做水平的能力底座（模型 + 协议 + SDK），把垂直场景让给生态伙伴。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7C5CFF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产业分工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Anthropic：模型 + MCP + SDK 等底座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319272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55264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伙伴/客户：在底座上做行业垂直 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078224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014216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MCP 连接第三方工具、数据与应用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837176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773168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云市场分发，触达企业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596128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532120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与 OpenAI/Google 在 Agent 底座竞争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78308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F46A5E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挑战与判断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496312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Agent 可靠性/幻觉仍是采用门槛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319272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255264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巨头自带分发，底座竞争激烈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078224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4014216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协议标准之争（MCP vs 其他）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837176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773168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安全/合规是机会也是持续成本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5596128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5532120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「可靠 + 开放」是 Anthropic 的差异打法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STRATEGIC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三个必须记住的判断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08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Agent 层 · Anthropic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2043684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0436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可靠是 Agent 的第一性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Agent 的胜负不在炫技，而在能否稳定、安全地把任务办成。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191256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7719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7719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191256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协议即护城河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355848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191256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MCP 若成事实标准，将以网络效应锁定生态，价值远超单个产品。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19472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5500116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55001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919472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做底座而非全包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5084064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919472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Anthropic 做水平能力底座，垂直场景交给生态，放大调用与用量。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5B8E0"/>
                </a:solidFill>
                <a:latin typeface="Microsoft YaHe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把可靠与开放，做成 Agent 的护城河。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当 Agent 成为新入口，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Anthropic 以可靠执行 + MCP 开放协议，争夺 Agent 层的底座地位。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75504" y="4800600"/>
            <a:ext cx="1828800" cy="254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Anthropic · Agent 层分析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7E93AB"/>
                </a:solidFill>
                <a:latin typeface="Microsoft YaHei"/>
              </a:rPr>
              <a:t>chenliang  ·  2026-06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