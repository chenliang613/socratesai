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097280"/>
            <a:ext cx="1371600" cy="13716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2377440"/>
            <a:ext cx="2194560" cy="2194560"/>
          </a:xfrm>
          <a:prstGeom prst="ellipse">
            <a:avLst/>
          </a:prstGeom>
          <a:noFill/>
          <a:ln w="16510">
            <a:solidFill>
              <a:srgbClr val="2A4D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4023360"/>
            <a:ext cx="1737360" cy="17373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493776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B8E0"/>
                </a:solidFill>
                <a:latin typeface="Microsoft YaHei"/>
              </a:rPr>
              <a:t>AI 产业六层模型 · 2028 EVOLUTION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6949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2028 六层模型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Microsoft YaHei"/>
              </a:rPr>
              <a:t>演进推演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5B6B7B"/>
                </a:solidFill>
                <a:latin typeface="Microsoft YaHei"/>
              </a:rPr>
              <a:t>两年后，</a:t>
            </a:r>
            <a:r>
              <a:rPr sz="1900" b="1" i="0">
                <a:solidFill>
                  <a:srgbClr val="F59E0B"/>
                </a:solidFill>
                <a:latin typeface="Microsoft YaHei"/>
              </a:rPr>
              <a:t>各层如何守住护城河、如何产业分工与协作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937760"/>
            <a:ext cx="4206240" cy="15240"/>
          </a:xfrm>
          <a:prstGeom prst="rect">
            <a:avLst/>
          </a:prstGeom>
          <a:solidFill>
            <a:srgbClr val="335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从能源到应用，价值链正被重新编排 ——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底层凭物理与生态壁垒守城，上层凭场景与知识密度拓土。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E849B"/>
                </a:solidFill>
                <a:latin typeface="Microsoft YaHei"/>
              </a:rPr>
              <a:t>chenliang  · 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目录 · 分析框架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02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2028 演进推演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63040"/>
            <a:ext cx="82296" cy="890625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463040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B6EF3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463040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演进主线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609344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463040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2026 → 2028 重塑六层的三股力量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463393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463393"/>
            <a:ext cx="82296" cy="890625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463393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4B8A6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463393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底层守城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609697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463393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能源 · 算力 · 模型 如何守护城河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463747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463747"/>
            <a:ext cx="82296" cy="890625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463747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7C5CFF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463747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上层拓土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3610051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3463747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数据 · Agent · 应用 如何守护城河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64100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4464100"/>
            <a:ext cx="82296" cy="890625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464100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59E0B"/>
                </a:solidFill>
                <a:latin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464100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产业分工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4610404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4464100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六层如何协作闭环、价值如何传导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464454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5464454"/>
            <a:ext cx="82296" cy="890625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464454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46A5E"/>
                </a:solidFill>
                <a:latin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5464454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关键判断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5610758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5464454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2028 产业格局推演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01 演进主线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2026 → 2028：重塑六层的三股力量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03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2028 演进推演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通用能力加速商品化，护城河整体上移；产业从「各层独立」走向「跨层编排闭环」。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主线一 · 全栈整合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巨头跨层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谷歌 / 微软 / 亚马逊 / 阿里 跨层自研，降低对单一上游（如英伟达）的依赖，谋求全栈控制力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9976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主线二 · 量纲统一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Token / 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计费向 Token 与业务结果收敛，成本自下而上层层传导，重塑各层利润分配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82712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主线三 · Agent 粘合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重新编排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MCP / A2A 等协议把六层重新编排成闭环，Agent 成为新的产业「粘合层」与价值战场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一句话：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底层「守」、上层「拓」，价值从「造模型」向「懂行业 + 控入口」迁移。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02 底层守城 · 能源层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能源层 2028：锁电即锁产能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04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2028 演进推演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电力是算力规模的硬约束。谁先锁定廉价、稳定、零碳的电，谁就锁定 AI 的产能上限。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护城河 · 如何守住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长协绿电 + 核电 / SMR：10 年期 PPA 与核电产能先签先得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选址即壁垒：靠近富余电网节点的土地与并网许可稀缺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能源—园区一体化自建：直连电源 + 液冷，PUE 逼近 1.1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电网与监管关系：长期容量协议构成进入门槛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B6EF3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产业分工 · 如何协作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向算力层供「GW 级稳定零碳电」，按容量长协绑定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与算力层协同设计供电 / 散热，应对芯片功率密度↑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深度绑定云厂（微软-核电、AWS-SMR），共享扩张红利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提供绿电资质，帮上层满足合规与碳披露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把能源做成「可控的基础设施变量」，用长协 + 垂直整合换取算力产能上限。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02 底层守城 · 算力层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算力层 2028：从卖芯片到卖「AI 工厂」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05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2028 演进推演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壁垒最高、利润最集中的一层。训练芯片维持寡头，推理芯片走向多元。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7C5CFF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护城河 · 如何守住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CUDA / 软件生态：开发者迁移成本仍是最深护城河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先进制程 + HBM 产能：物理稀缺，绑定产能即绑定算力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系统级整合：从单卡到机柜级互联，卖「AI 工厂」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推理经济性：每 Token 成本成为新战场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B6EF3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产业分工 · 如何协作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向能源层要稳定大功率，联合设计供电与散热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向模型层供训练 / 推理算力，软件栈深度耦合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云厂自研芯片（TPU / Trainium / Maia）分流推理需求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向上提供推理底座，算力成本按 Token 向上传导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训练靠生态与制程守寡头，推理靠能效比应对多元竞争与成本下行。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02 底层守城 · 模型层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模型层 2028：地板抬高，护城河上移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06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2028 演进推演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通用能力增速放缓、加速商品化；前沿仍领先半代，但壁垒从「模型本身」转向「分发 + 协议 + 信任」。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B6EF3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护城河 · 如何守住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前沿代差：闭源靠数据 + 算力 + 对齐持续领先半代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护城河上移：分发渠道 + Agent 协议（MCP）+ 企业信任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成本曲线：规模摊薄训练成本，单位智能成本持续下降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安全与合规对齐：强监管场景的入场资格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产业分工 · 如何协作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向上把「模型 + 工具 + 协议」打包为 Agent 基础设施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向下绑定算力（长期算力承诺）与能源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与数据层经 RAG / 微调接入企业私域数据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开源做长尾与本地化，闭源做前沿与高价值场景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通用能力商品化倒逼模型厂向上做 Agent、向下锁算力，靠生态而非参数取胜。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03 上层拓土 · 数据平台层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数据平台层 2028：语义层成新壁垒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07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2028 演进推演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没有统一、可信、带语义的数据，上层智能无从谈起。数据重力 + 语义层构成双重护城河。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59E0B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护城河 · 如何守住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数据引力：入湖仓 + 治理后迁移成本极高（数据重力）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语义层 / 本体：统一业务语言，是 Agent 可靠决策的前提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AI 原生底座：内置向量检索 + 语义层 + Agent 数据接口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治理与合规：权限、血缘、审计是强监管行业入场券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产业分工 · 如何协作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向模型 / Agent 层供「可信、带语义的燃料」，按消费计费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与模型层共生：私域数据 ↔ 语义增强 互相成就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向应用层提供统一底座，应用专注场景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向算力层下沉向量检索 / 特征计算，消费推理算力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把散落数据变成「Agent 可消费的语义燃料」，用数据重力 + 语义层锁定企业。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03 上层拓土 · Agent 层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Agent 层 2028：入口即护城河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08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2028 演进推演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竞争最激烈、价值重新分配的战场。模型厂向上、应用厂向下、平台厂横向，三股力量在此交汇。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7C5CFF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护城河 · 如何守住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入口即护城河：掌握工作流入口即掌握流量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协议标准（MCP / A2A）：定义互操作标准者掌握生态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可靠性与护栏：可控、可审计、可回滚是 2B 胜负手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多 Agent 编排 + 记忆：跨系统长任务能力形成壁垒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B6EF3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产业分工 · 如何协作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向下调用模型（规划）、数据（上下文）、工具（执行）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与应用层分工：应用供领域工具 + SOP，Agent 供编排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成为应用的新运行时，重塑软件交互形态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按结果 / 算力计费，价值向能交付结果者集中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谁掌握 Agent 入口与协议标准，谁就主导 2028 的产业格局与价值分配。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03 上层拓土 · 应用层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应用层 2028：知识密度是终局壁垒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09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2028 演进推演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价值最终被「兑现」的一层。从功能型 SaaS 走向结果型 Agentic SaaS，软件加速「去 UI 化」。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46A5E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护城河 · 如何守住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行业 Know-How / SOP：行业知识密度最难复制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工作流嵌入 + 数据闭环：深嵌流程 + 独占场景数据成飞轮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结果交付与 ROI 证明：稳定交付可量化结果即锁客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可被调用性：能被 Agent 调用 / 编排成为新维度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产业分工 · 如何协作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向下接 Agent / 模型 / 数据，聚焦「最后一公里」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计费从席位 → 结果 / 算力，重构商业模式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与 Agent 层分工：供领域工具 + SOP，享自主执行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向数据层回流场景数据，强化行业语义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模型达标只是入场券，行业 Know-How 沉淀与结果交付才是胜负手。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04 产业分工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六层如何协作闭环：价值自下而上传导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10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2028 演进推演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每一层都在解决「上层能力如何高效供给、下层价值如何有效承接」。Token 是贯穿全链的量纲。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16306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1630680" cy="91440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11096"/>
            <a:ext cx="163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能源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03704"/>
            <a:ext cx="1630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供电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880360"/>
            <a:ext cx="1228344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GW 级稳定零碳电，决定算力产能上限</a:t>
            </a:r>
          </a:p>
        </p:txBody>
      </p:sp>
      <p:sp>
        <p:nvSpPr>
          <p:cNvPr id="16" name="Oval 15"/>
          <p:cNvSpPr/>
          <p:nvPr/>
        </p:nvSpPr>
        <p:spPr>
          <a:xfrm>
            <a:off x="1299972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9972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4B8A6"/>
                </a:solidFill>
                <a:latin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7920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72512" y="1783080"/>
            <a:ext cx="16306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72512" y="1783080"/>
            <a:ext cx="1630680" cy="91440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72512" y="1911096"/>
            <a:ext cx="163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算力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2512" y="2203704"/>
            <a:ext cx="1630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供算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3680" y="2880360"/>
            <a:ext cx="1228344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把电变成可消费算力，软件栈耦合模型</a:t>
            </a:r>
          </a:p>
        </p:txBody>
      </p:sp>
      <p:sp>
        <p:nvSpPr>
          <p:cNvPr id="24" name="Oval 23"/>
          <p:cNvSpPr/>
          <p:nvPr/>
        </p:nvSpPr>
        <p:spPr>
          <a:xfrm>
            <a:off x="3095244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5244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5CFF"/>
                </a:solidFill>
                <a:latin typeface="Microsoft Ya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3192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7784" y="1783080"/>
            <a:ext cx="16306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67784" y="1783080"/>
            <a:ext cx="1630680" cy="91440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7784" y="1911096"/>
            <a:ext cx="163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7784" y="2203704"/>
            <a:ext cx="1630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供智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8952" y="2880360"/>
            <a:ext cx="1228344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把算力变通用智能，打包为 Agent 底座</a:t>
            </a:r>
          </a:p>
        </p:txBody>
      </p:sp>
      <p:sp>
        <p:nvSpPr>
          <p:cNvPr id="32" name="Oval 31"/>
          <p:cNvSpPr/>
          <p:nvPr/>
        </p:nvSpPr>
        <p:spPr>
          <a:xfrm>
            <a:off x="4890516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1B6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0516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B6EF3"/>
                </a:solidFill>
                <a:latin typeface="Microsoft Ya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98464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63056" y="1783080"/>
            <a:ext cx="16306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63056" y="1783080"/>
            <a:ext cx="1630680" cy="9144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3056" y="1911096"/>
            <a:ext cx="163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数据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3056" y="2203704"/>
            <a:ext cx="1630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供料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2880360"/>
            <a:ext cx="1228344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供带语义可信燃料，喂养模型与 Agent</a:t>
            </a:r>
          </a:p>
        </p:txBody>
      </p:sp>
      <p:sp>
        <p:nvSpPr>
          <p:cNvPr id="40" name="Oval 39"/>
          <p:cNvSpPr/>
          <p:nvPr/>
        </p:nvSpPr>
        <p:spPr>
          <a:xfrm>
            <a:off x="6685788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85788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9E0B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3736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8328" y="1783080"/>
            <a:ext cx="16306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958328" y="1783080"/>
            <a:ext cx="1630680" cy="914400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8328" y="1911096"/>
            <a:ext cx="163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8328" y="2203704"/>
            <a:ext cx="1630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编排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59496" y="2880360"/>
            <a:ext cx="1228344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调度模型 / 数据 / 工具，自主完成任务</a:t>
            </a:r>
          </a:p>
        </p:txBody>
      </p:sp>
      <p:sp>
        <p:nvSpPr>
          <p:cNvPr id="48" name="Oval 47"/>
          <p:cNvSpPr/>
          <p:nvPr/>
        </p:nvSpPr>
        <p:spPr>
          <a:xfrm>
            <a:off x="8481060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35B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81060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35B8E0"/>
                </a:solidFill>
                <a:latin typeface="Microsoft YaHe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89008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53600" y="1783080"/>
            <a:ext cx="16306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753600" y="1783080"/>
            <a:ext cx="1630680" cy="91440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53600" y="1911096"/>
            <a:ext cx="163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应用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3600" y="2203704"/>
            <a:ext cx="1630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兑现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54768" y="2880360"/>
            <a:ext cx="1228344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在场景中交付 ROI，回流数据闭环</a:t>
            </a:r>
          </a:p>
        </p:txBody>
      </p:sp>
      <p:sp>
        <p:nvSpPr>
          <p:cNvPr id="56" name="Oval 55"/>
          <p:cNvSpPr/>
          <p:nvPr/>
        </p:nvSpPr>
        <p:spPr>
          <a:xfrm>
            <a:off x="10276332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F4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76332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46A5E"/>
                </a:solidFill>
                <a:latin typeface="Microsoft YaHei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跨层规律：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价值自下而上「变薄」、自上而下「变近」；Agent 层是重新分配价值的枢纽。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05 关键判断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2028 产业格局：六条推演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11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2028 演进推演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611630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611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底层守 · 上层拓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能源 / 算力 / 模型靠物理与生态壁垒守城；数据 / Agent / 应用靠场景与知识密度拓土。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327148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2475738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247573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327148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护城河整体上移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491740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327148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通用能力商品化，价值从「造模型」向「懂行业 + 控入口」迁移。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191256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3339846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333984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191256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Token 成统一量纲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355848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191256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全产业计费向 Token / 结果收敛，成本自下而上层层传导。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055364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0395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0395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055364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整合与分工并存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219956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055364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巨头追求全栈垂直整合，创业公司在 Agent / 应用层差异化突围。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919472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3272" y="5068062"/>
            <a:ext cx="457200" cy="457200"/>
          </a:xfrm>
          <a:prstGeom prst="ellipse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" y="506806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4919472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Agent 是价值战场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5084064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4919472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协议标准（MCP / A2A）与入口归属，决定 2028 的产业话语权。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783580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33272" y="5932170"/>
            <a:ext cx="457200" cy="457200"/>
          </a:xfrm>
          <a:prstGeom prst="ellipse">
            <a:avLst/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72" y="593217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5783580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知识密度定终局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5948172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17720" y="5783580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模型达标是入场券，行业 Know-How 与结果交付才是最终胜负手。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5B8E0"/>
                </a:solidFill>
                <a:latin typeface="Microsoft YaHe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守城靠壁垒，拓土靠分工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2028 的赢家，不是单层最强者，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而是最懂如何在六层协作闭环中卡住关键节点的人。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75504" y="4800600"/>
            <a:ext cx="1828800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AI 产业六层模型 · 2028 演进推演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7E93AB"/>
                </a:solidFill>
                <a:latin typeface="Microsoft YaHei"/>
              </a:rPr>
              <a:t>chenliang  ·  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