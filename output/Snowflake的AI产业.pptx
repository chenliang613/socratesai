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863840" y="0"/>
            <a:ext cx="432511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95360" y="1097280"/>
            <a:ext cx="1371600" cy="1371600"/>
          </a:xfrm>
          <a:prstGeom prst="ellipse">
            <a:avLst/>
          </a:prstGeom>
          <a:solidFill>
            <a:srgbClr val="35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332720" y="2377440"/>
            <a:ext cx="2194560" cy="2194560"/>
          </a:xfrm>
          <a:prstGeom prst="ellipse">
            <a:avLst/>
          </a:prstGeom>
          <a:noFill/>
          <a:ln w="16510">
            <a:solidFill>
              <a:srgbClr val="2A4D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052560" y="4023360"/>
            <a:ext cx="1737360" cy="17373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789920" y="4937760"/>
            <a:ext cx="1097280" cy="10972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051560"/>
            <a:ext cx="640080" cy="50800"/>
          </a:xfrm>
          <a:prstGeom prst="rect">
            <a:avLst/>
          </a:prstGeom>
          <a:solidFill>
            <a:srgbClr val="35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2344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5B8E0"/>
                </a:solidFill>
                <a:latin typeface="Microsoft YaHei"/>
              </a:rPr>
              <a:t>AI 产业六层模型 · 数据平台层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69494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 i="0">
                <a:solidFill>
                  <a:srgbClr val="FFFFFF"/>
                </a:solidFill>
                <a:latin typeface="Microsoft YaHei"/>
              </a:rPr>
              <a:t>Snowflake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Microsoft YaHei"/>
              </a:rPr>
              <a:t>的数据云策略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14800"/>
            <a:ext cx="6766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5B6B7B"/>
                </a:solidFill>
                <a:latin typeface="Microsoft YaHei"/>
              </a:rPr>
              <a:t>从 </a:t>
            </a:r>
            <a:r>
              <a:rPr sz="1900" b="1" i="0">
                <a:solidFill>
                  <a:srgbClr val="F59E0B"/>
                </a:solidFill>
                <a:latin typeface="Microsoft YaHei"/>
              </a:rPr>
              <a:t>按消费计费、数据共享到 Cortex AI</a:t>
            </a:r>
            <a:r>
              <a:rPr sz="1900" b="0" i="0">
                <a:solidFill>
                  <a:srgbClr val="5B6B7B"/>
                </a:solidFill>
                <a:latin typeface="Microsoft YaHei"/>
              </a:rPr>
              <a:t> 看数据平台护城河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937760"/>
            <a:ext cx="4206240" cy="15240"/>
          </a:xfrm>
          <a:prstGeom prst="rect">
            <a:avLst/>
          </a:prstGeom>
          <a:solidFill>
            <a:srgbClr val="3352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66360"/>
            <a:ext cx="6858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让数据「即取即用、可被共享」——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2C6"/>
                </a:solidFill>
                <a:latin typeface="Microsoft YaHei"/>
              </a:rPr>
              <a:t>数据引力 + 网络效应，是数据云的护城河。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7220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E849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目录 · 分析框架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02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Snowflake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890625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463040"/>
            <a:ext cx="82296" cy="890625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463040"/>
            <a:ext cx="100584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B6EF3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1463040"/>
            <a:ext cx="292608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公司定位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1609344"/>
            <a:ext cx="15240" cy="598017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463040"/>
            <a:ext cx="585216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从数据仓库到数据云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463393"/>
            <a:ext cx="10607040" cy="890625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463393"/>
            <a:ext cx="82296" cy="890625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463393"/>
            <a:ext cx="100584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14B8A6"/>
                </a:solidFill>
                <a:latin typeface="Microsoft YaHe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2463393"/>
            <a:ext cx="292608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商业模式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74920" y="2609697"/>
            <a:ext cx="15240" cy="598017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49240" y="2463393"/>
            <a:ext cx="585216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按消费计费的数据云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463747"/>
            <a:ext cx="10607040" cy="890625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3463747"/>
            <a:ext cx="82296" cy="890625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3463747"/>
            <a:ext cx="100584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7C5CFF"/>
                </a:solidFill>
                <a:latin typeface="Microsoft YaHe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3463747"/>
            <a:ext cx="292608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AI 战略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4920" y="3610051"/>
            <a:ext cx="15240" cy="598017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40" y="3463747"/>
            <a:ext cx="585216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Cortex：把 AI 带到数据旁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464100"/>
            <a:ext cx="10607040" cy="890625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4464100"/>
            <a:ext cx="82296" cy="890625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4464100"/>
            <a:ext cx="100584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59E0B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464100"/>
            <a:ext cx="292608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产业护城河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4920" y="4610404"/>
            <a:ext cx="15240" cy="598017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4464100"/>
            <a:ext cx="585216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易用 · 引力 · 共享 · 中立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464454"/>
            <a:ext cx="10607040" cy="890625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77240" y="5464454"/>
            <a:ext cx="82296" cy="890625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7280" y="5464454"/>
            <a:ext cx="100584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F46A5E"/>
                </a:solidFill>
                <a:latin typeface="Microsoft YaHei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5464454"/>
            <a:ext cx="292608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1F33"/>
                </a:solidFill>
                <a:latin typeface="Microsoft YaHei"/>
              </a:rPr>
              <a:t>产业分工与判断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74920" y="5610758"/>
            <a:ext cx="15240" cy="598017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9240" y="5464454"/>
            <a:ext cx="5852160" cy="890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云之上的协作、竞争与结论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01 公司定位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Snowflake：从云数据仓库到「数据云」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03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Snowflake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以「存算分离 + 多云 + 极致易用」起家，目标是成为企业数据的统一底座与流通网络。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起点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云数据仓库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存储与计算解耦，弹性伸缩、按需付费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架构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多云中立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横跨 AWS/Azure/GCP，不绑定单一云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体验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极致易用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近乎免运维，SQL 分析师即可上手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愿景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数据云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从「存数据」走向「数据共享与流通网络」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02 商业模式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按消费计费的数据云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04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Snowflake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Snowflake 采用消费式定价（按计算 credit 计费），收入与客户用量同频增长。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4B8A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消费式定价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按计算资源消耗（credit）计费，用多少付多少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4175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存储与计算分别计价，弹性可控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27482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净收入留存率高，客户用量自然扩张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5132070"/>
            <a:ext cx="146304" cy="14630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定价与客户价值同向，降低采用门槛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783080"/>
            <a:ext cx="5120640" cy="420624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1B6EF3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增长引擎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24963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数据上云后，分析负载持续增长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341757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33535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数据共享/Marketplace 带来新用量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427482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21081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AI/应用负载（Cortex/Snowpark）拉动消费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5132070"/>
            <a:ext cx="146304" cy="146304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5068062"/>
            <a:ext cx="4206240" cy="8023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「数据进来就出不去」的引力效应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05332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46A5E"/>
                </a:solidFill>
                <a:latin typeface="Microsoft YaHei"/>
              </a:rPr>
              <a:t>本质：</a:t>
            </a:r>
            <a:r>
              <a:rPr sz="1200" b="0" i="0">
                <a:solidFill>
                  <a:srgbClr val="0B1F33"/>
                </a:solidFill>
                <a:latin typeface="Microsoft YaHei"/>
              </a:rPr>
              <a:t>把定价与客户用量绑定，让平台收入随「数据被用得越多」而自然增长 —— 数据引力即增长引擎。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03 AI 战略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Cortex：把 AI 带到数据旁，而非把数据搬向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05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Snowflake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Snowflake 的 AI 主张是「让模型在数据所在地运行」，减少数据搬运、保障治理与安全。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7C5CFF"/>
                </a:solidFill>
                <a:latin typeface="Microsoft YaHei"/>
              </a:rPr>
              <a:t>Cortex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内置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在平台内直接调用大模型，贴着数据做生成与分析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1783080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96596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B6EF3"/>
                </a:solidFill>
                <a:latin typeface="Microsoft YaHei"/>
              </a:rPr>
              <a:t>Snowpark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27685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多语言开发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07208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Python 等在数据侧运行，支撑 ML 与数据应用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4B8A6"/>
                </a:solidFill>
                <a:latin typeface="Microsoft YaHei"/>
              </a:rPr>
              <a:t>向量与检索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RAG 底座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向量存储与检索，支撑企业知识库与 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11396"/>
            <a:ext cx="5120640" cy="22722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63640" y="4311396"/>
            <a:ext cx="91440" cy="2272284"/>
          </a:xfrm>
          <a:prstGeom prst="roundRect">
            <a:avLst>
              <a:gd name="adj" fmla="val 6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94276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59E0B"/>
                </a:solidFill>
                <a:latin typeface="Microsoft YaHei"/>
              </a:rPr>
              <a:t>治理优先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80517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0B1F33"/>
                </a:solidFill>
                <a:latin typeface="Microsoft YaHei"/>
              </a:rPr>
              <a:t>数据不出域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0" y="5335524"/>
            <a:ext cx="4572000" cy="10835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B6B7B"/>
                </a:solidFill>
                <a:latin typeface="Microsoft YaHei"/>
              </a:rPr>
              <a:t>权限、审计、合规贯穿，AI 在可信边界内运行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04 产业护城河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Snowflake 的四道壁垒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06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Snowflake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1827657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182765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易用性壁垒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近免运维 + SQL 友好，降低采用门槛，赢得分析师与业务用户。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759202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123819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1238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759202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数据引力壁垒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2923794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2759202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数据沉淀越多、迁移成本越高，消费随负载增长形成正反馈。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055364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4419981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4419981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055364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数据共享网络效应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4219956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055364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数据 Marketplace 与跨组织共享，参与者越多价值越大。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351526"/>
            <a:ext cx="10607040" cy="1186434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33272" y="5716143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2" y="5716143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351526"/>
            <a:ext cx="274320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多云中立壁垒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5516118"/>
            <a:ext cx="15240" cy="85725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5351526"/>
            <a:ext cx="6492240" cy="118643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不绑定单一云，成为客户对冲云厂商的「中立数据层」。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05 产业分工与判断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站在超大规模云之上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07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Snowflake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207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B6B7B"/>
                </a:solidFill>
                <a:latin typeface="Microsoft YaHei"/>
              </a:rPr>
              <a:t>Snowflake 是「云之上的数据层」：依赖超大规模云的基础设施，同时与其数据产品正面竞争。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35B8E0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7724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35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分工与依赖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2560320"/>
            <a:ext cx="146304" cy="146304"/>
          </a:xfrm>
          <a:prstGeom prst="rect">
            <a:avLst/>
          </a:prstGeom>
          <a:solidFill>
            <a:srgbClr val="35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底层算力/存储租用 AWS/Azure/GCP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319272"/>
            <a:ext cx="146304" cy="146304"/>
          </a:xfrm>
          <a:prstGeom prst="rect">
            <a:avLst/>
          </a:prstGeom>
          <a:solidFill>
            <a:srgbClr val="35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与云自有数仓（Redshift/BigQuery）竞争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4078224"/>
            <a:ext cx="146304" cy="146304"/>
          </a:xfrm>
          <a:prstGeom prst="rect">
            <a:avLst/>
          </a:prstGeom>
          <a:solidFill>
            <a:srgbClr val="35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与 Databricks 争夺数据平台心智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97280" y="4837176"/>
            <a:ext cx="146304" cy="146304"/>
          </a:xfrm>
          <a:prstGeom prst="rect">
            <a:avLst/>
          </a:prstGeom>
          <a:solidFill>
            <a:srgbClr val="35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上接 BI、AI、应用生态做分发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97280" y="5596128"/>
            <a:ext cx="146304" cy="146304"/>
          </a:xfrm>
          <a:prstGeom prst="rect">
            <a:avLst/>
          </a:prstGeom>
          <a:solidFill>
            <a:srgbClr val="35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7160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中立定位是相对云厂商的差异点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55080" y="1783080"/>
            <a:ext cx="5120640" cy="4572000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 w="16510">
            <a:solidFill>
              <a:srgbClr val="F46A5E"/>
            </a:solidFill>
          </a:ln>
          <a:effectLst/>
          <a:effectLst>
            <a:outerShdw blurRad="90000" dist="40000" dir="5400000" rotWithShape="0">
              <a:srgbClr val="0B1F33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1783080"/>
            <a:ext cx="5120640" cy="548640"/>
          </a:xfrm>
          <a:prstGeom prst="roundRect">
            <a:avLst>
              <a:gd name="adj" fmla="val 6000"/>
            </a:avLst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1783080"/>
            <a:ext cx="5120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icrosoft YaHei"/>
              </a:rPr>
              <a:t>挑战与判断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5120" y="2560320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496312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云厂商既是房东也是对手，毛利受挤压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3319272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3255264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Databricks 在 AI/ML 场景强势竞争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5120" y="4078224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0" y="4014216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消费式定价下成本透明度受客户关注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0" y="4837176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49440" y="4773168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需从「分析」延伸到「AI + 应用」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5596128"/>
            <a:ext cx="146304" cy="146304"/>
          </a:xfrm>
          <a:prstGeom prst="rect">
            <a:avLst/>
          </a:prstGeom>
          <a:solidFill>
            <a:srgbClr val="F46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5532120"/>
            <a:ext cx="420624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0B1F33"/>
                </a:solidFill>
                <a:latin typeface="Microsoft YaHei"/>
              </a:rPr>
              <a:t>数据引力 + 共享网络仍是核心护城河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10896"/>
            <a:ext cx="109728" cy="457200"/>
          </a:xfrm>
          <a:prstGeom prst="rect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37744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B6EF3"/>
                </a:solidFill>
                <a:latin typeface="Microsoft YaHei"/>
              </a:rPr>
              <a:t>STRATEGIC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7548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B1F33"/>
                </a:solidFill>
                <a:latin typeface="Microsoft YaHei"/>
              </a:rPr>
              <a:t>三个必须记住的判断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384048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B6EF3"/>
                </a:solidFill>
                <a:latin typeface="Microsoft YaHei"/>
              </a:rPr>
              <a:t>08</a:t>
            </a:r>
            <a:r>
              <a:rPr sz="1100" b="0" i="0">
                <a:solidFill>
                  <a:srgbClr val="8A98A6"/>
                </a:solidFill>
                <a:latin typeface="Microsoft YaHei"/>
              </a:rPr>
              <a:t> / 09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78992"/>
            <a:ext cx="12191695" cy="15240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50" b="0" i="0">
                <a:solidFill>
                  <a:srgbClr val="C2CEDB"/>
                </a:solidFill>
                <a:latin typeface="Microsoft YaHei"/>
              </a:rPr>
              <a:t>AI 产业六层模型 · 数据平台层 · Snowflake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463040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" y="2043684"/>
            <a:ext cx="457200" cy="457200"/>
          </a:xfrm>
          <a:prstGeom prst="ellipse">
            <a:avLst/>
          </a:prstGeom>
          <a:solidFill>
            <a:srgbClr val="1B6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33272" y="204368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463040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易用 + 消费式是增长底盘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627632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463040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低门槛上手 + 用量计费，让收入随数据被用得越多而增长。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191256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33272" y="3771900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33272" y="37719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191256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护城河在数据引力与共享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3355848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191256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数据沉淀的迁移成本 + Marketplace 网络效应，是真正的壁垒。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919472"/>
            <a:ext cx="10607040" cy="1618488"/>
          </a:xfrm>
          <a:prstGeom prst="roundRect">
            <a:avLst>
              <a:gd name="adj" fmla="val 6000"/>
            </a:avLst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3272" y="5500116"/>
            <a:ext cx="457200" cy="457200"/>
          </a:xfrm>
          <a:prstGeom prst="ellipse">
            <a:avLst/>
          </a:prstGeom>
          <a:solidFill>
            <a:srgbClr val="7C5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2" y="55001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919472"/>
            <a:ext cx="274320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1F33"/>
                </a:solidFill>
                <a:latin typeface="Microsoft YaHei"/>
              </a:rPr>
              <a:t>AI 贴着数据走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5084064"/>
            <a:ext cx="15240" cy="1289304"/>
          </a:xfrm>
          <a:prstGeom prst="rect">
            <a:avLst/>
          </a:prstGeom>
          <a:solidFill>
            <a:srgbClr val="D7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4919472"/>
            <a:ext cx="6492240" cy="1618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B6B7B"/>
                </a:solidFill>
                <a:latin typeface="Microsoft YaHei"/>
              </a:rPr>
              <a:t>Cortex 把 AI 带到数据旁，治理与安全是其相对通用 AI 的差异。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468880"/>
            <a:ext cx="12191695" cy="192024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35B8E0"/>
                </a:solidFill>
                <a:latin typeface="Microsoft YaHe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Microsoft YaHei"/>
              </a:rPr>
              <a:t>数据的引力，就是平台的护城河。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566160"/>
            <a:ext cx="9784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让数据即取即用、可被共享，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8D6E6"/>
                </a:solidFill>
                <a:latin typeface="Microsoft YaHei"/>
              </a:rPr>
              <a:t>Snowflake 用易用性与网络效应，守住数据平台层的入口。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75504" y="4800600"/>
            <a:ext cx="1828800" cy="25400"/>
          </a:xfrm>
          <a:prstGeom prst="rect">
            <a:avLst/>
          </a:prstGeom>
          <a:solidFill>
            <a:srgbClr val="35B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Microsoft YaHei"/>
              </a:rPr>
              <a:t>Snowflake · 数据平台层分析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7E93AB"/>
                </a:solidFill>
                <a:latin typeface="Microsoft YaHei"/>
              </a:rPr>
              <a:t>chenliang  ·  2026-06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