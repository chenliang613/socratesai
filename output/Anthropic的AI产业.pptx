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1097280"/>
            <a:ext cx="1371600" cy="13716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377440"/>
            <a:ext cx="2194560" cy="2194560"/>
          </a:xfrm>
          <a:prstGeom prst="ellipse">
            <a:avLst/>
          </a:prstGeom>
          <a:noFill/>
          <a:ln w="16510">
            <a:solidFill>
              <a:srgbClr val="2A4D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93776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051560"/>
            <a:ext cx="640080" cy="50800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B8E0"/>
                </a:solidFill>
                <a:latin typeface="Microsoft YaHei"/>
              </a:rPr>
              <a:t>AI 产业六层模型 · 模型层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6949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Anthropic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Microsoft YaHei"/>
              </a:rPr>
              <a:t>的模型策略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B6B7B"/>
                </a:solidFill>
                <a:latin typeface="Microsoft YaHei"/>
              </a:rPr>
              <a:t>以 </a:t>
            </a:r>
            <a:r>
              <a:rPr sz="1900" b="1" i="0">
                <a:solidFill>
                  <a:srgbClr val="F59E0B"/>
                </a:solidFill>
                <a:latin typeface="Microsoft YaHei"/>
              </a:rPr>
              <a:t>安全为先的前沿模型公司</a:t>
            </a:r>
            <a:r>
              <a:rPr sz="1900" b="0" i="0">
                <a:solidFill>
                  <a:srgbClr val="5B6B7B"/>
                </a:solidFill>
                <a:latin typeface="Microsoft YaHei"/>
              </a:rPr>
              <a:t>，如何构筑能力 × 信任护城河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937760"/>
            <a:ext cx="4206240" cy="15240"/>
          </a:xfrm>
          <a:prstGeom prst="rect">
            <a:avLst/>
          </a:prstGeom>
          <a:solidFill>
            <a:srgbClr val="335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前沿能力是入场券，安全与信任是差异化 ——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在企业市场，可靠比惊艳更值钱。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E849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目录 · 分析框架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463040"/>
            <a:ext cx="82296" cy="44602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463040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公司定位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609344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463040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安全为先的前沿模型公司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018792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018792"/>
            <a:ext cx="82296" cy="44602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018792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018792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商业模式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165096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2018792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模型即服务 + 多渠道变现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2574544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2574544"/>
            <a:ext cx="82296" cy="44602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2574544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2574544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差异化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720848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2574544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安全对齐 · 编程 · MCP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3130296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3130296"/>
            <a:ext cx="82296" cy="44602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130296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59E0B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3130296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产业护城河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3276600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130296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能力 × 信任 × 研究 × 算力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3686048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3686048"/>
            <a:ext cx="82296" cy="446024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3686048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686048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产业位置与判断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3832352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3686048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依赖、竞合与关键结论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4241800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77240" y="4241800"/>
            <a:ext cx="82296" cy="44602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4241800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241800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客户与场景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4388104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4241800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开发 · 强监管行业 · 知识工作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4797552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7240" y="4797552"/>
            <a:ext cx="82296" cy="44602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4797552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4797552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竞争格局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943856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49240" y="4797552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OpenAI · Gemini · 开源阵营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353304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" y="5353304"/>
            <a:ext cx="82296" cy="44602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5353304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48840" y="5353304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演进路线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74920" y="5499608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49240" y="5353304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从安全立司到 Agent 底座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" y="5909056"/>
            <a:ext cx="10607040" cy="44602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77240" y="5909056"/>
            <a:ext cx="82296" cy="446024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5909056"/>
            <a:ext cx="100584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5909056"/>
            <a:ext cx="292608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风险与粘性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74920" y="6055360"/>
            <a:ext cx="15240" cy="153416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49240" y="5909056"/>
            <a:ext cx="5852160" cy="4460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护城河风险 vs 客户粘性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01 公司定位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Anthropic：以安全为先的前沿模型公司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03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由前 OpenAI 核心成员创立，以 AI 安全研究为根，打造 Claude 系列前沿模型。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使命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安全可靠的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把「可控、可信」作为研发与产品的第一性约束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Constitutional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以「宪法式」对齐方法训练模型价值与行为边界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产品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Claude 模型族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覆盖对话、推理、编程、长上下文的前沿模型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定位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企业级首选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以可靠性与安全性切入高价值企业与开发者市场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02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模型即服务 + 多渠道变现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04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Anthropic 以「模型能力」为核心资产，通过 API、自有产品与云市场多渠道触达开发者与企业。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变现渠道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API：按 token 调用计费，开发者集成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4175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Claude 订阅：面向个人/团队的产品订阅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748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Claude Code：面向开发者的编程 Agent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51320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企业版：安全、合规、私有部署等增值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B6EF3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分发网络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AWS Bedrock：借云市场触达企业客户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4175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Google Cloud：多云分发，降低单点依赖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2748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战略投资：亚马逊、谷歌注资 + 算力绑定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51320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生态伙伴：通过平台与集成商扩展触点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把前沿模型能力封装为可调用、可计费的服务，用「自有产品 + 云市场」双轮触达高价值客户。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03 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三个差异化支点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05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在前沿模型同质化竞争中，Anthropic 以安全、编程、协议三处做出区隔。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安全对齐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Constitutional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可解释、可控的对齐方法，赢得强监管行业信任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编程能力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Claude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在代码理解与生成上的领先，成为开发者入口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开放协议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MCP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推动 Model Context Protocol 成为工具调用标准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长上下文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大窗口推理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长文档/代码库级上下文，支撑复杂企业任务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04 产业护城河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Anthropic 的四道壁垒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06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827657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182765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前沿能力壁垒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持续逼近 SOTA 的模型能力，是参与高端竞争的门票，研发飞轮自我强化。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59202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123819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1238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759202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信任与安全壁垒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2923794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2759202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安全品牌 + 可靠性，在金融/医疗/法律等强监管市场形成差异化偏好。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5364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419981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41998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055364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研究与人才壁垒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219956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55364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顶尖对齐与研究团队，稀缺人才聚集形成长期能力护城河。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351526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716143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71614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351526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算力与资本壁垒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5516118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5351526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与亚马逊、谷歌的算力 + 资本绑定，保障训练所需的稀缺算力。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05 产业位置与判断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依赖、竞合与挑战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07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模型层是产业「发动机」，但 Anthropic 上游受制于算力、下游与云既合作又竞争。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依赖与风险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训练算力依赖云伙伴（AWS/Google）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319272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投资方同时是竞争对手（自研模型）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078224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推理成本高，价格战压缩毛利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837176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前沿能力差距可能被快速抹平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596128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安全合规与监管的持续投入压力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机会与判断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企业市场对「可信 AI」需求结构性上升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319272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MCP 标准化带来生态主导权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4078224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编程 Agent（Claude Code）打开新增长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37176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向 Agent 基础设施延伸提升客单价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596128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安全定位在监管趋严下愈发稀缺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06 客户与场景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谁在用 Claude，用来做什么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08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Anthropic 以可靠性切入高价值场景，从开发者扩散到强监管行业与知识工作。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软件开发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Claude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开发者/工程团队用 Claude 做代码理解、生成与重构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金融/法律/医疗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强监管行业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高合规要求场景看重 Claude 的安全与可靠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企业知识工作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文档/分析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长上下文处理合同、报告，做知识库问答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AI 产品厂商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API 集成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大量 SaaS 与创业公司把 Claude 作为底层模型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07 竞争格局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前沿模型的多强争霸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09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通用能力趋同，Anthropic 以安全 + 编程 + 协议做差异化突围。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GPT / 规模领先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产品与品牌声量大，生态与先发优势强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谷歌 Gemini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多模态 + 分发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全家桶分发 + 长上下文 + 自有 TPU 算力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开源阵营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Llama/DeepSeek 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开放权重低成本，挤压通用模型溢价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Anthropic 定位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安全 + 编程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以安全可靠 + 编程能力 + MCP 做差异化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08 演进路线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从安全立司到 Agent 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10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安全立司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前 OpenAI 成员创立，以对齐与安全研究为根</a:t>
            </a:r>
          </a:p>
        </p:txBody>
      </p:sp>
      <p:sp>
        <p:nvSpPr>
          <p:cNvPr id="15" name="Oval 14"/>
          <p:cNvSpPr/>
          <p:nvPr/>
        </p:nvSpPr>
        <p:spPr>
          <a:xfrm>
            <a:off x="1748790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48790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4B8A6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05556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0148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0148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0148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0148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Claude 发布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71316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推出 Claude 系列，以可靠性切入企业市场</a:t>
            </a:r>
          </a:p>
        </p:txBody>
      </p:sp>
      <p:sp>
        <p:nvSpPr>
          <p:cNvPr id="23" name="Oval 22"/>
          <p:cNvSpPr/>
          <p:nvPr/>
        </p:nvSpPr>
        <p:spPr>
          <a:xfrm>
            <a:off x="4441698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1B6E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41698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B6EF3"/>
                </a:solidFill>
                <a:latin typeface="Microsoft YaHe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6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63056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63056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2024-25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63056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编程 + MCP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Claude Code 打开开发者入口，推 MCP 开放协议</a:t>
            </a:r>
          </a:p>
        </p:txBody>
      </p:sp>
      <p:sp>
        <p:nvSpPr>
          <p:cNvPr id="31" name="Oval 30"/>
          <p:cNvSpPr/>
          <p:nvPr/>
        </p:nvSpPr>
        <p:spPr>
          <a:xfrm>
            <a:off x="7134606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7C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4606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5CFF"/>
                </a:solidFill>
                <a:latin typeface="Microsoft YaHe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91372" y="3680460"/>
            <a:ext cx="164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8A98A6"/>
                </a:solidFill>
                <a:latin typeface="Microsoft YaHei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55964" y="1508760"/>
            <a:ext cx="2528316" cy="4709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855964" y="1508760"/>
            <a:ext cx="2528316" cy="91440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55964" y="1636776"/>
            <a:ext cx="25283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未来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5964" y="1929384"/>
            <a:ext cx="25283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Agent 底座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7132" y="2606040"/>
            <a:ext cx="2125980" cy="2880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从卖模型走向卖「会办事」的 Agent 基础设施</a:t>
            </a:r>
          </a:p>
        </p:txBody>
      </p:sp>
      <p:sp>
        <p:nvSpPr>
          <p:cNvPr id="39" name="Oval 38"/>
          <p:cNvSpPr/>
          <p:nvPr/>
        </p:nvSpPr>
        <p:spPr>
          <a:xfrm>
            <a:off x="9827514" y="5468112"/>
            <a:ext cx="585216" cy="585216"/>
          </a:xfrm>
          <a:prstGeom prst="ellipse">
            <a:avLst/>
          </a:prstGeom>
          <a:solidFill>
            <a:srgbClr val="F4F7FB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27514" y="5468112"/>
            <a:ext cx="585216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09 风险与粘性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护城河的风险 vs 独特价值与客户粘性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11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模型能力会被追平，但安全信任、开发者生态与协议标准带来差异化粘性。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护城河面临的风险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训练算力依赖云伙伴（AWS/Google）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2461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1821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投资方同时是竞争对手（自研模型）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39319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8679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推理成本高，价格战压缩毛利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6177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5537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前沿能力差距可能被快速抹平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3035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2395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开源模型蚕食通用场景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独特价值与客户粘性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安全品牌在强监管行业形成偏好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2461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1821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Claude Code 抓住开发者高频使用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39319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38679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MCP 生态被采用越多，迁移越难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6177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5537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长上下文 + 可靠工具调用绑定工作流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3035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239512"/>
            <a:ext cx="420624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集成后 prompt/流程沉淀，形成切换成本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能力会被追平，但「安全信任 + 开发者生态 + 协议标准」才是 Anthropic 的粘性来源。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STRATEGIC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三个必须记住的判断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12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模型层 ·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能力是门票，信任是壁垒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前沿能力人人追赶，安全与可靠才是 Anthropic 的差异化护城河。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上游受制于算力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模型层的命门在算力供给，与云的「绑定 + 竞合」是长期主线。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从模型走向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MCP 与 Claude Code 让 Anthropic 从「卖模型」走向「卖会办事的能力」。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B8E0"/>
                </a:solidFill>
                <a:latin typeface="Microsoft YaHe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能力是门票，信任才是护城河。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当前沿模型走向同质化，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安全、可靠与生态标准，是 Anthropic 在模型层的立身之本。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75504" y="4800600"/>
            <a:ext cx="1828800" cy="25400"/>
          </a:xfrm>
          <a:prstGeom prst="rect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Anthropic · 模型层分析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E93A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