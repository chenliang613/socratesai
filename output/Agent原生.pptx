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"/>
            <a:ext cx="109728" cy="457200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46A5E"/>
                </a:solidFill>
                <a:latin typeface="Microsoft YaHei"/>
              </a:rPr>
              <a:t>AGENT NATIVE · 完整工作逻辑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3"/>
                </a:solidFill>
                <a:latin typeface="Microsoft YaHei"/>
              </a:rPr>
              <a:t>Agent 原生：从 LLM+工具 到 多 Agent 协同，统一运行在 Harness 之中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43584"/>
            <a:ext cx="11274552" cy="4828032"/>
          </a:xfrm>
          <a:prstGeom prst="roundRect">
            <a:avLst>
              <a:gd name="adj" fmla="val 6000"/>
            </a:avLst>
          </a:prstGeom>
          <a:solidFill>
            <a:srgbClr val="FDF0ED"/>
          </a:solidFill>
          <a:ln w="3810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52647" y="1042415"/>
            <a:ext cx="5486400" cy="402336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2647" y="1042415"/>
            <a:ext cx="5486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场景 4 · Harness —— 把场景 1 / 2 / 3 全部包含的整个大框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063447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B7B"/>
                </a:solidFill>
                <a:latin typeface="Microsoft YaHei"/>
              </a:rPr>
              <a:t>圈内的一切 —— 工具调用 · 知识与流程 · 多 Agent 协同 —— 都由同一框架统一承载，这就是 </a:t>
            </a:r>
            <a:r>
              <a:rPr sz="1050" b="1" i="0">
                <a:solidFill>
                  <a:srgbClr val="F46A5E"/>
                </a:solidFill>
                <a:latin typeface="Microsoft YaHei"/>
              </a:rPr>
              <a:t>Harness 的内涵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2024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3401568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401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</a:rPr>
              <a:t>场景 1</a:t>
            </a:r>
            <a:r>
              <a:rPr sz="850" b="0" i="0">
                <a:solidFill>
                  <a:srgbClr val="FFFFFF"/>
                </a:solidFill>
                <a:latin typeface="Microsoft YaHei"/>
              </a:rPr>
              <a:t>  ·  LLM + MCP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LLM + MCP 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23744"/>
            <a:ext cx="3127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B7B"/>
                </a:solidFill>
                <a:latin typeface="Microsoft YaHei"/>
              </a:rPr>
              <a:t>简单问答 · 内容生成 —— 开箱即用的基础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72184" y="2889504"/>
            <a:ext cx="2011680" cy="292608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2184" y="2889504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用户提问 / 生成指令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386584" y="3218688"/>
            <a:ext cx="182880" cy="146304"/>
          </a:xfrm>
          <a:prstGeom prst="downArrow">
            <a:avLst/>
          </a:prstGeom>
          <a:solidFill>
            <a:srgbClr val="8A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" y="3401568"/>
            <a:ext cx="1097280" cy="566928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401568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Microsoft YaHei"/>
              </a:rPr>
              <a:t>理解 · 推理 · 生成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2185416" y="3584448"/>
            <a:ext cx="384048" cy="201168"/>
          </a:xfrm>
          <a:prstGeom prst="leftRightArrow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24328" y="3401568"/>
            <a:ext cx="1298448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8" y="3401568"/>
            <a:ext cx="1298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6EF3"/>
                </a:solidFill>
                <a:latin typeface="Microsoft YaHei"/>
              </a:rPr>
              <a:t>MCP 工具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B6EF3"/>
                </a:solidFill>
                <a:latin typeface="Microsoft YaHei"/>
              </a:rPr>
              <a:t>搜索 · 文件 · API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386584" y="4005072"/>
            <a:ext cx="182880" cy="146304"/>
          </a:xfrm>
          <a:prstGeom prst="downArrow">
            <a:avLst/>
          </a:prstGeom>
          <a:solidFill>
            <a:srgbClr val="8A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80744" y="4187952"/>
            <a:ext cx="2194560" cy="329184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 w="1524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4187952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EF3"/>
                </a:solidFill>
                <a:latin typeface="Microsoft YaHei"/>
              </a:rPr>
              <a:t>回答 / 内容产出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91456"/>
            <a:ext cx="3127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EF3"/>
                </a:solidFill>
                <a:latin typeface="Microsoft YaHei"/>
              </a:rPr>
              <a:t>◆ </a:t>
            </a:r>
            <a:r>
              <a:rPr sz="950" b="1" i="0">
                <a:solidFill>
                  <a:srgbClr val="5B6B7B"/>
                </a:solidFill>
                <a:latin typeface="Microsoft YaHei"/>
              </a:rPr>
              <a:t>模型大脑 + 标准化工具接口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3692" y="192024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3692" y="1920240"/>
            <a:ext cx="3401568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3692" y="1965960"/>
            <a:ext cx="3401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</a:rPr>
              <a:t>场景 2</a:t>
            </a:r>
            <a:r>
              <a:rPr sz="850" b="0" i="0">
                <a:solidFill>
                  <a:srgbClr val="FFFFFF"/>
                </a:solidFill>
                <a:latin typeface="Microsoft YaHei"/>
              </a:rPr>
              <a:t>  ·  LLM + RAG / SKILL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LLM + RAG / 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0852" y="2523744"/>
            <a:ext cx="3127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B7B"/>
                </a:solidFill>
                <a:latin typeface="Microsoft YaHei"/>
              </a:rPr>
              <a:t>知识库定边界 · SKILL 规范业务流程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8636" y="2889504"/>
            <a:ext cx="2011680" cy="292608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8636" y="2889504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业务请求 / 任务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6003036" y="3218688"/>
            <a:ext cx="182880" cy="146304"/>
          </a:xfrm>
          <a:prstGeom prst="downArrow">
            <a:avLst/>
          </a:prstGeom>
          <a:solidFill>
            <a:srgbClr val="8A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03420" y="3401568"/>
            <a:ext cx="9601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3420" y="3401568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B8A6"/>
                </a:solidFill>
                <a:latin typeface="Microsoft YaHei"/>
              </a:rPr>
              <a:t>知识库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B8A6"/>
                </a:solidFill>
                <a:latin typeface="Microsoft YaHei"/>
              </a:rPr>
              <a:t>RAG 检索增强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490972" y="3584448"/>
            <a:ext cx="219456" cy="201168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28716" y="3401568"/>
            <a:ext cx="804672" cy="566928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28716" y="3401568"/>
            <a:ext cx="804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Microsoft YaHei"/>
              </a:rPr>
              <a:t>按知识作答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6551676" y="3584448"/>
            <a:ext cx="219456" cy="201168"/>
          </a:xfrm>
          <a:prstGeom prst="lef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89420" y="3401568"/>
            <a:ext cx="9601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9420" y="3401568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B8A6"/>
                </a:solidFill>
                <a:latin typeface="Microsoft YaHei"/>
              </a:rPr>
              <a:t>SKILL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B8A6"/>
                </a:solidFill>
                <a:latin typeface="Microsoft YaHei"/>
              </a:rPr>
              <a:t>流程 · 规范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6003036" y="4005072"/>
            <a:ext cx="182880" cy="146304"/>
          </a:xfrm>
          <a:prstGeom prst="downArrow">
            <a:avLst/>
          </a:prstGeom>
          <a:solidFill>
            <a:srgbClr val="8A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60036" y="4187952"/>
            <a:ext cx="2468880" cy="329184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0036" y="4187952"/>
            <a:ext cx="246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B8A6"/>
                </a:solidFill>
                <a:latin typeface="Microsoft YaHei"/>
              </a:rPr>
              <a:t>按业务流程规范执行与输出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0852" y="4791456"/>
            <a:ext cx="3127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4B8A6"/>
                </a:solidFill>
                <a:latin typeface="Microsoft YaHei"/>
              </a:rPr>
              <a:t>◆ </a:t>
            </a:r>
            <a:r>
              <a:rPr sz="950" b="1" i="0">
                <a:solidFill>
                  <a:srgbClr val="5B6B7B"/>
                </a:solidFill>
                <a:latin typeface="Microsoft YaHei"/>
              </a:rPr>
              <a:t>知识给依据，SKILL 给章法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0144" y="192024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10144" y="1920240"/>
            <a:ext cx="3401568" cy="5486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1965960"/>
            <a:ext cx="34015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</a:rPr>
              <a:t>场景 3</a:t>
            </a:r>
            <a:r>
              <a:rPr sz="850" b="0" i="0">
                <a:solidFill>
                  <a:srgbClr val="FFFFFF"/>
                </a:solidFill>
                <a:latin typeface="Microsoft YaHei"/>
              </a:rPr>
              <a:t>  ·  MULTI-AGENT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多 Agent 协同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7304" y="2523744"/>
            <a:ext cx="3127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B7B"/>
                </a:solidFill>
                <a:latin typeface="Microsoft YaHei"/>
              </a:rPr>
              <a:t>调度 · 协同 · 自适应 —— 应对复杂任务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05088" y="2852928"/>
            <a:ext cx="2011680" cy="274320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05088" y="2852928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复杂任务 / 目标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9619488" y="3154680"/>
            <a:ext cx="182880" cy="118872"/>
          </a:xfrm>
          <a:prstGeom prst="downArrow">
            <a:avLst/>
          </a:prstGeom>
          <a:solidFill>
            <a:srgbClr val="8A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567928" y="3300984"/>
            <a:ext cx="2286000" cy="347472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7928" y="3300984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调度 Agent（规划 · 分派）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8595360" y="3675888"/>
            <a:ext cx="182880" cy="118872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38744" y="3813048"/>
            <a:ext cx="8961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38744" y="3813048"/>
            <a:ext cx="896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5CFF"/>
                </a:solidFill>
                <a:latin typeface="Microsoft YaHei"/>
              </a:rPr>
              <a:t>检索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5CFF"/>
                </a:solidFill>
                <a:latin typeface="Microsoft YaHei"/>
              </a:rPr>
              <a:t>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4856" y="3904488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C5CFF"/>
                </a:solidFill>
                <a:latin typeface="Microsoft YaHei"/>
              </a:rPr>
              <a:t>⇄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9619488" y="3675888"/>
            <a:ext cx="182880" cy="118872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262872" y="3813048"/>
            <a:ext cx="8961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62872" y="3813048"/>
            <a:ext cx="896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5CFF"/>
                </a:solidFill>
                <a:latin typeface="Microsoft YaHei"/>
              </a:rPr>
              <a:t>分析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5CFF"/>
                </a:solidFill>
                <a:latin typeface="Microsoft YaHei"/>
              </a:rPr>
              <a:t>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58984" y="3904488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C5CFF"/>
                </a:solidFill>
                <a:latin typeface="Microsoft YaHei"/>
              </a:rPr>
              <a:t>⇄</a:t>
            </a:r>
          </a:p>
        </p:txBody>
      </p:sp>
      <p:sp>
        <p:nvSpPr>
          <p:cNvPr id="63" name="Down Arrow 62"/>
          <p:cNvSpPr/>
          <p:nvPr/>
        </p:nvSpPr>
        <p:spPr>
          <a:xfrm>
            <a:off x="10643616" y="3675888"/>
            <a:ext cx="182880" cy="118872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287000" y="3813048"/>
            <a:ext cx="8961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87000" y="3813048"/>
            <a:ext cx="896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5CFF"/>
                </a:solidFill>
                <a:latin typeface="Microsoft YaHei"/>
              </a:rPr>
              <a:t>执行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5CFF"/>
                </a:solidFill>
                <a:latin typeface="Microsoft YaHei"/>
              </a:rPr>
              <a:t>Agent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9619488" y="4306824"/>
            <a:ext cx="182880" cy="118872"/>
          </a:xfrm>
          <a:prstGeom prst="downArrow">
            <a:avLst/>
          </a:prstGeom>
          <a:solidFill>
            <a:srgbClr val="8A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476488" y="4453128"/>
            <a:ext cx="2468880" cy="310896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 w="1524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76488" y="445312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5CFF"/>
                </a:solidFill>
                <a:latin typeface="Microsoft YaHei"/>
              </a:rPr>
              <a:t>协同产出 · 结果汇聚</a:t>
            </a:r>
          </a:p>
        </p:txBody>
      </p:sp>
      <p:sp>
        <p:nvSpPr>
          <p:cNvPr id="69" name="Up Arrow 68"/>
          <p:cNvSpPr/>
          <p:nvPr/>
        </p:nvSpPr>
        <p:spPr>
          <a:xfrm>
            <a:off x="11155680" y="3703320"/>
            <a:ext cx="128016" cy="1188720"/>
          </a:xfrm>
          <a:prstGeom prst="up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27664" y="33924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Microsoft YaHei"/>
              </a:rPr>
              <a:t>自适应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47304" y="4791456"/>
            <a:ext cx="3127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7C5CFF"/>
                </a:solidFill>
                <a:latin typeface="Microsoft YaHei"/>
              </a:rPr>
              <a:t>◆ </a:t>
            </a:r>
            <a:r>
              <a:rPr sz="950" b="1" i="0">
                <a:solidFill>
                  <a:srgbClr val="5B6B7B"/>
                </a:solidFill>
                <a:latin typeface="Microsoft YaHei"/>
              </a:rPr>
              <a:t>任务分而治之，反馈动态调整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192524" y="3383280"/>
            <a:ext cx="182880" cy="237744"/>
          </a:xfrm>
          <a:prstGeom prst="rightArrow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ight Arrow 72"/>
          <p:cNvSpPr/>
          <p:nvPr/>
        </p:nvSpPr>
        <p:spPr>
          <a:xfrm>
            <a:off x="7808975" y="3383280"/>
            <a:ext cx="182880" cy="237744"/>
          </a:xfrm>
          <a:prstGeom prst="rightArrow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7240" y="5248656"/>
            <a:ext cx="1371600" cy="6035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5248656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Harness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Microsoft YaHei"/>
              </a:rPr>
              <a:t>统一能力底座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31720" y="5367528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31720" y="5367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统一上下文与记忆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87952" y="5367528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87952" y="5367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工具 / MCP 路由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44184" y="5367528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44184" y="5367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知识 · SKILL 加载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900416" y="5367528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00416" y="5367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多 Agent 调度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56648" y="5367528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56648" y="5367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1F33"/>
                </a:solidFill>
                <a:latin typeface="Microsoft YaHei"/>
              </a:rPr>
              <a:t>权限与安全护栏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6144768"/>
            <a:ext cx="10634472" cy="347472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7240" y="6144768"/>
            <a:ext cx="10634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1F33"/>
                </a:solidFill>
                <a:latin typeface="Microsoft YaHei"/>
              </a:rPr>
              <a:t>Agent 原生 = LLM 大脑 × MCP 工具 × RAG/SKILL 知识 × 多 Agent 协同，由 Harness 统一承载、调度与护航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6583680"/>
            <a:ext cx="10058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Agent 原生完整工作逻辑 · 场景 1 工具 / 场景 2 知识 / 场景 3 协同 / 场景 4 Harness    |    chenliang  · 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