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1097280"/>
            <a:ext cx="1371600" cy="13716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377440"/>
            <a:ext cx="2194560" cy="2194560"/>
          </a:xfrm>
          <a:prstGeom prst="ellipse">
            <a:avLst/>
          </a:prstGeom>
          <a:noFill/>
          <a:ln w="16510">
            <a:solidFill>
              <a:srgbClr val="2A4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93776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051560"/>
            <a:ext cx="640080" cy="508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B8E0"/>
                </a:solidFill>
                <a:latin typeface="Microsoft YaHei"/>
              </a:rPr>
              <a:t>AI 产业六层模型 · 算力层 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英伟达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Microsoft YaHei"/>
              </a:rPr>
              <a:t>的算力策略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B6B7B"/>
                </a:solidFill>
                <a:latin typeface="Microsoft YaHei"/>
              </a:rPr>
              <a:t>从 </a:t>
            </a:r>
            <a:r>
              <a:rPr sz="1900" b="1" i="0">
                <a:solidFill>
                  <a:srgbClr val="F59E0B"/>
                </a:solidFill>
                <a:latin typeface="Microsoft YaHei"/>
              </a:rPr>
              <a:t>全栈布局、CUDA 生态到 Fabless 分工</a:t>
            </a:r>
            <a:r>
              <a:rPr sz="1900" b="0" i="0">
                <a:solidFill>
                  <a:srgbClr val="5B6B7B"/>
                </a:solidFill>
                <a:latin typeface="Microsoft YaHei"/>
              </a:rPr>
              <a:t> 看算力层的护城河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4206240" cy="15240"/>
          </a:xfrm>
          <a:prstGeom prst="rect">
            <a:avLst/>
          </a:prstGeom>
          <a:solidFill>
            <a:srgbClr val="335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卖的从来不只是芯片，而是「算力平台」——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性能领先 × 软件生态 × 全栈整合，三重壁垒叠加。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E849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目录 · 分析框架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63040"/>
            <a:ext cx="82296" cy="390448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463040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产业地位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609344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463040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AI 算力的事实标准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963216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1963216"/>
            <a:ext cx="82296" cy="390448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963216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1963216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全栈布局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109520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1963216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从芯片到软件到网络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463393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2463393"/>
            <a:ext cx="82296" cy="390448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463393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2463393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商业模式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609697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2463393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卖芯片，更卖算力平台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2963570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2963570"/>
            <a:ext cx="82296" cy="390448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2963570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59E0B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2963570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产业护城河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3109874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2963570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CUDA 生态 + 性能 + 供应链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3463747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3463747"/>
            <a:ext cx="82296" cy="390448"/>
          </a:xfrm>
          <a:prstGeom prst="roundRect">
            <a:avLst>
              <a:gd name="adj" fmla="val 6000"/>
            </a:avLst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463747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5B8E0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463747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产业分工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3610051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3463747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Fabless 模式的协作与依赖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3963924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7240" y="3963924"/>
            <a:ext cx="82296" cy="390448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963924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3963924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挑战与判断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4110228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3963924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去英伟达化与关键结论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4464100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7240" y="4464100"/>
            <a:ext cx="82296" cy="390448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4464100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464100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客户与场景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610404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4464100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云厂商 · 模型实验室 · 主权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4964277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" y="4964277"/>
            <a:ext cx="82296" cy="390448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4964277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48840" y="4964277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竞争格局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74920" y="5110581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4964277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AMD · 自研芯片 · 推理新势力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5464454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77240" y="5464454"/>
            <a:ext cx="82296" cy="390448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5464454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5464454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演进路线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74920" y="5610758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5464454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从 CUDA 到 AI 工厂平台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7240" y="5964631"/>
            <a:ext cx="10607040" cy="3904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7240" y="5964631"/>
            <a:ext cx="82296" cy="390448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964631"/>
            <a:ext cx="100584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8840" y="5964631"/>
            <a:ext cx="292608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风险与粘性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74920" y="6110935"/>
            <a:ext cx="15240" cy="978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964631"/>
            <a:ext cx="5852160" cy="390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护城河风险 vs 客户粘性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01 产业地位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英伟达：AI 算力的事实标准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在 AI 训练市场，英伟达占据压倒性份额，数据中心业务成为公司绝对增长引擎。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市场地位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训练近乎垄断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前沿大模型训练高度依赖其 GPU，份额长期领先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增长引擎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数据中心为王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数据中心业务占营收主体，取代游戏成为核心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定价能力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强议价权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供不应求 + 生态锁定，带来高毛利与定价主导权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节奏掌控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年度迭代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以年级别架构迭代（性能/能效）持续拉开身位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02 全栈布局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从一颗芯片到一套「算力工厂」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04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英伟达把竞争维度从「单芯片性能」抬升到「机柜级系统 + 软件 + 网络」的全栈整合。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芯片 Chip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训练/推理 GPU，配合 HBM 高带宽内存，单卡算力领先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互联 Network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NVLink / InfiniBand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收购 Mellanox，掌握芯片间与集群高速互联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系统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DGX / 机柜方案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整机柜级超算方案，交付「开箱即用」的算力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软件 Software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CUDA 生态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CUDA + cuDNN + TensorRT + NIM，开发者深度绑定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03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卖的不只是芯片，是「算力平台」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05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英伟达的商业模式是硬件 + 软件 + 生态的协同变现，而非单纯的芯片买卖。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B6EF3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多层次变现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GPU / HBM 硬件：核心营收与高毛利来源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175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系统与网络：从卖芯片升级到卖整柜算力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748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软件与平台：CUDA 生态 + 企业软件/订阅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1320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云租赁与生态：DGX Cloud 等延伸触点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飞轮效应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性能领先 → 开发者首选 → 生态繁荣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175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生态繁荣 → 迁移成本高 → 锁定客户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2748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规模出货 → 摊薄研发 → 持续领先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51320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现金流充沛 → 投资生态 → 强化壁垒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用软件生态把硬件性能优势「锁定」下来，让算力成为一个有网络效应的平台生意。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04 产业护城河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英伟达的三重壁垒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06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CUDA 生态壁垒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近二十年沉淀的软件栈与开发者习惯，迁移成本极高，是最深的护城河。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性能与节奏壁垒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架构、互联、能效的持续领先 + 年度迭代，让追赶者始终慢一代。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供应链与系统壁垒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对台积电先进封装、HBM 产能的优先锁定 + 全栈系统整合能力。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05 产业分工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Fabless 模式：协作网络与关键依赖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07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英伟达是「无晶圆厂」设计公司，把自己定位为产业链的「平台与标准」，专注设计与生态，制造交给伙伴。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上游 · 制造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台积电 CoWoS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依赖台积电先进制程与 CoWoS 封装，产能是关键卡点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上游 · 内存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SK海力士 / 三星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依赖 HBM 高带宽内存供给，决定单卡上限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中游 · 整机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OEM / ODM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戴尔、超微等组装服务器，云厂商部署落地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下游 · 客户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云与模型厂商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微软、AWS、谷歌、Meta、OpenAI 等既是大客户也是潜在对手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06 挑战与判断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「去英伟达化」与应对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08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最大变量来自最大客户：超大规模云厂商都在自研芯片，试图降低对英伟达的依赖。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挑战与风险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云厂商自研芯片（TPU/Trainium/Maia）分流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319272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AMD 等竞争者在推理市场追赶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78224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供应链集中：先进封装/HBM 产能受限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837176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地缘与出口管制影响市场可达性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596128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客户即对手，议价关系微妙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护城河韧性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CUDA 生态短期难以被替代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319272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推理市场扩大，软件 + 系统优势延续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4078224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向企业软件/平台延伸，降低硬件周期性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37176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全栈整合提高对手的全面追赶门槛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596128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标准制定者地位带来生态主导权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07 客户与场景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谁在买英伟达，买去做什么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09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英伟达的算力被产业链各层抢购，需求从训练扩散到推理、私有与主权 AI。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云厂商 / 超大规模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GPU 主力买家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微软/AWS/谷歌/Meta/Oracle 采购 GPU 建 AI 云，再转租算力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前沿模型实验室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训练集群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OpenAI/Anthropic/xAI 用 H100/B200 训练前沿大模型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企业私有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DGX / 本地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金融/制造/医疗自建算力，数据不出域跑训练与推理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主权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国家算力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各国政府建主权 AI 基础设施，整集群采购 GPU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08 竞争格局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围攻英伟达：从硬件到自研芯片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10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对手从性价比、自研、推理专用三个方向切入，但都绕不开 CUDA 生态。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AMD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MI 系列追赶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MI300/MI400 在推理性价比上竞争，软件生态仍弱于 CUDA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云自研芯片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TPU/Trainium/Maia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谷歌 TPU、AWS Trainium、微软 Maia 分流自有负载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推理专用芯片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Groq/Cerebras 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新势力主打推理速度/能效，蚕食推理细分市场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英伟达护城河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CUDA + 全栈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CUDA 生态 + 年度迭代 + 整柜系统，综合壁垒最深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09 演进路线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从一颗 GPU 到「AI 工厂」平台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11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CUDA 奠基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推出 CUDA，把 GPU 从图形芯片变成通用并行算力</a:t>
            </a:r>
          </a:p>
        </p:txBody>
      </p:sp>
      <p:sp>
        <p:nvSpPr>
          <p:cNvPr id="15" name="Oval 14"/>
          <p:cNvSpPr/>
          <p:nvPr/>
        </p:nvSpPr>
        <p:spPr>
          <a:xfrm>
            <a:off x="1748790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48790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4B8A6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5556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0148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0148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0148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2016-2020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0148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数据中心转身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1316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GPU 成深度学习训练标配，数据中心成增长引擎</a:t>
            </a:r>
          </a:p>
        </p:txBody>
      </p:sp>
      <p:sp>
        <p:nvSpPr>
          <p:cNvPr id="23" name="Oval 22"/>
          <p:cNvSpPr/>
          <p:nvPr/>
        </p:nvSpPr>
        <p:spPr>
          <a:xfrm>
            <a:off x="4441698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B6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1698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B6EF3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63056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63056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2022-2024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63056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全栈整合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整合 Mellanox 互联，推 DGX 整柜 + NIM，从芯片到系统</a:t>
            </a:r>
          </a:p>
        </p:txBody>
      </p:sp>
      <p:sp>
        <p:nvSpPr>
          <p:cNvPr id="31" name="Oval 30"/>
          <p:cNvSpPr/>
          <p:nvPr/>
        </p:nvSpPr>
        <p:spPr>
          <a:xfrm>
            <a:off x="7134606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4606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5CFF"/>
                </a:solidFill>
                <a:latin typeface="Microsoft YaHe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91372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55964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55964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55964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未来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5964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AI 工厂平台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7132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向「算力工厂」与企业 AI 平台延伸，年节奏迭代架构</a:t>
            </a:r>
          </a:p>
        </p:txBody>
      </p:sp>
      <p:sp>
        <p:nvSpPr>
          <p:cNvPr id="39" name="Oval 38"/>
          <p:cNvSpPr/>
          <p:nvPr/>
        </p:nvSpPr>
        <p:spPr>
          <a:xfrm>
            <a:off x="9827514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7514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10 风险与粘性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护城河的风险 vs 独特价值与客户粘性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去英伟达化是长期变量，但 CUDA 生态与全栈整合带来的迁移成本极高。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护城河面临的风险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云厂商自研芯片去英伟达化分流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2461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AMD 等在推理市场性价比追赶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9319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先进封装/HBM 产能集中，供给受限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6177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地缘与出口管制影响市场可达性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3035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客户即对手，议价关系微妙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独特价值与客户粘性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CUDA 近 20 年生态，迁移成本极高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2461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开发者习惯 + 海量库，锁定整套研发栈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39319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整柜系统「开箱即用」，省客户集成成本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6177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年度迭代领先一代，追赶者始终慢半步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3035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标准制定者地位，生态围绕其演进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英伟达的粘性不在单颗芯片，而在 CUDA 生态与全栈整合带来的「换不起」。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STRATEGIC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三个必须记住的判断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算力层 · 英伟达 NVIDIA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平台而非芯片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英伟达的护城河在 CUDA 生态与全栈整合，而不仅是单芯片性能。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Fabless 的双刃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轻资产专注设计与生态，但深度依赖台积电与 HBM 供给，产能是命门。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客户即对手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云厂商自研芯片是长期变量，「去英伟达化」与生态锁定是长期拉锯。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B8E0"/>
                </a:solidFill>
                <a:latin typeface="Microsoft YaHe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算力平台的胜负，在生态而非单点。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英伟达用 CUDA 把性能优势变成网络效应，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在算力层筑起 AI 产业最深、最难逾越的护城河之一。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75504" y="4800600"/>
            <a:ext cx="1828800" cy="254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英伟达 NVIDIA · 算力层分析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E93A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