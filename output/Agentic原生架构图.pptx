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6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47472" y="274320"/>
            <a:ext cx="118872" cy="118872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46304"/>
            <a:ext cx="86868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Microsoft YaHei"/>
              </a:rPr>
              <a:t>Agentic AI · 原生架构图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75488"/>
            <a:ext cx="112471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94A3B8"/>
                </a:solidFill>
                <a:latin typeface="Microsoft YaHei"/>
              </a:rPr>
              <a:t>场景 1 LLM+MCP 工具 → 场景 2 LLM+RAG/SKILL → 场景 3 多 Agent 协同 —— 全部包含在场景 4 · Harness 之中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66036" y="1230826"/>
            <a:ext cx="6856171" cy="4670831"/>
          </a:xfrm>
          <a:prstGeom prst="roundRect">
            <a:avLst>
              <a:gd name="adj" fmla="val 10000"/>
            </a:avLst>
          </a:prstGeom>
          <a:solidFill>
            <a:srgbClr val="0E0F18"/>
          </a:solidFill>
          <a:ln w="12700">
            <a:solidFill>
              <a:srgbClr val="FBBF2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783811" y="1280515"/>
            <a:ext cx="588873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FBBF24"/>
                </a:solidFill>
                <a:latin typeface="Microsoft YaHei"/>
              </a:rPr>
              <a:t>场景 4 · HARNESS —— Agent 运行框架：把场景 1 / 2 / 3 全部包含的大框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80283" y="1628343"/>
            <a:ext cx="487923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 i="0">
                <a:solidFill>
                  <a:srgbClr val="94A3B8"/>
                </a:solidFill>
                <a:latin typeface="Microsoft YaHei"/>
              </a:rPr>
              <a:t>圈内的一切 —— 工具调用 · 知识与流程 · 多 Agent 协同 ——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 i="0">
                <a:solidFill>
                  <a:srgbClr val="94A3B8"/>
                </a:solidFill>
                <a:latin typeface="Microsoft YaHei"/>
              </a:rPr>
              <a:t>都由同一运行框架统一承载，这就是 Harness 的内涵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34286" y="2340562"/>
            <a:ext cx="2061057" cy="2484485"/>
          </a:xfrm>
          <a:prstGeom prst="roundRect">
            <a:avLst>
              <a:gd name="adj" fmla="val 10000"/>
            </a:avLst>
          </a:prstGeom>
          <a:noFill/>
          <a:ln w="12700">
            <a:solidFill>
              <a:srgbClr val="22D3E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18411" y="2390252"/>
            <a:ext cx="189280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1" i="0">
                <a:solidFill>
                  <a:srgbClr val="22D3EE"/>
                </a:solidFill>
                <a:latin typeface="Microsoft YaHei"/>
              </a:rPr>
              <a:t>场景 1 · LLM + MCP 工具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34286" y="4576599"/>
            <a:ext cx="2061057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750" b="0" i="0">
                <a:solidFill>
                  <a:srgbClr val="22D3EE"/>
                </a:solidFill>
                <a:latin typeface="Microsoft YaHei"/>
              </a:rPr>
              <a:t>简单问答 · 内容生成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63593" y="2340562"/>
            <a:ext cx="2061057" cy="2484485"/>
          </a:xfrm>
          <a:prstGeom prst="roundRect">
            <a:avLst>
              <a:gd name="adj" fmla="val 10000"/>
            </a:avLst>
          </a:prstGeom>
          <a:noFill/>
          <a:ln w="12700">
            <a:solidFill>
              <a:srgbClr val="A78BF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47718" y="2390252"/>
            <a:ext cx="189280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1" i="0">
                <a:solidFill>
                  <a:srgbClr val="A78BFA"/>
                </a:solidFill>
                <a:latin typeface="Microsoft YaHei"/>
              </a:rPr>
              <a:t>场景 2 · LLM + RAG / SKILL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63593" y="4576599"/>
            <a:ext cx="2061057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750" b="0" i="0">
                <a:solidFill>
                  <a:srgbClr val="A78BFA"/>
                </a:solidFill>
                <a:latin typeface="Microsoft YaHei"/>
              </a:rPr>
              <a:t>知识定边界 · SKILL 定章法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92900" y="2340562"/>
            <a:ext cx="2018995" cy="2484485"/>
          </a:xfrm>
          <a:prstGeom prst="roundRect">
            <a:avLst>
              <a:gd name="adj" fmla="val 10000"/>
            </a:avLst>
          </a:prstGeom>
          <a:noFill/>
          <a:ln w="12700">
            <a:solidFill>
              <a:srgbClr val="34D39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77025" y="2390252"/>
            <a:ext cx="185074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1" i="0">
                <a:solidFill>
                  <a:srgbClr val="34D399"/>
                </a:solidFill>
                <a:latin typeface="Microsoft YaHei"/>
              </a:rPr>
              <a:t>场景 3 · 多 Agent 协同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92900" y="4576599"/>
            <a:ext cx="201899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750" b="0" i="0">
                <a:solidFill>
                  <a:srgbClr val="34D399"/>
                </a:solidFill>
                <a:latin typeface="Microsoft YaHei"/>
              </a:rPr>
              <a:t>调度 · 协同 · 自适应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0352" y="1611780"/>
            <a:ext cx="925372" cy="430644"/>
          </a:xfrm>
          <a:prstGeom prst="roundRect">
            <a:avLst>
              <a:gd name="adj" fmla="val 10000"/>
            </a:avLst>
          </a:prstGeom>
          <a:solidFill>
            <a:srgbClr val="172033"/>
          </a:solidFill>
          <a:ln w="1524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0352" y="1611780"/>
            <a:ext cx="925372" cy="4306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Microsoft YaHei"/>
              </a:rPr>
              <a:t>企业用户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94A3B8"/>
                </a:solidFill>
                <a:latin typeface="Microsoft YaHei"/>
              </a:rPr>
              <a:t>业务人员 / 系统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834286" y="1611780"/>
            <a:ext cx="925372" cy="430644"/>
          </a:xfrm>
          <a:prstGeom prst="roundRect">
            <a:avLst>
              <a:gd name="adj" fmla="val 10000"/>
            </a:avLst>
          </a:prstGeom>
          <a:solidFill>
            <a:srgbClr val="0C2234"/>
          </a:solidFill>
          <a:ln w="1524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834286" y="1611780"/>
            <a:ext cx="925372" cy="4306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Microsoft YaHei"/>
              </a:rPr>
              <a:t>Agent 入口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94A3B8"/>
                </a:solidFill>
                <a:latin typeface="Microsoft YaHei"/>
              </a:rPr>
              <a:t>会话 · API · 任务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1480962" y="1702878"/>
            <a:ext cx="319674" cy="115942"/>
          </a:xfrm>
          <a:prstGeom prst="rightArrow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13662" y="1528964"/>
            <a:ext cx="471098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650" b="0" i="0">
                <a:solidFill>
                  <a:srgbClr val="94A3B8"/>
                </a:solidFill>
                <a:latin typeface="Microsoft YaHei"/>
              </a:rPr>
              <a:t>请求</a:t>
            </a:r>
          </a:p>
        </p:txBody>
      </p:sp>
      <p:sp>
        <p:nvSpPr>
          <p:cNvPr id="24" name="Left Arrow 23"/>
          <p:cNvSpPr/>
          <p:nvPr/>
        </p:nvSpPr>
        <p:spPr>
          <a:xfrm>
            <a:off x="1480962" y="1885073"/>
            <a:ext cx="319674" cy="115942"/>
          </a:xfrm>
          <a:prstGeom prst="lef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13662" y="2025861"/>
            <a:ext cx="471098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650" b="0" i="0">
                <a:solidFill>
                  <a:srgbClr val="94A3B8"/>
                </a:solidFill>
                <a:latin typeface="Microsoft YaHei"/>
              </a:rPr>
              <a:t>结果</a:t>
            </a:r>
          </a:p>
        </p:txBody>
      </p:sp>
      <p:sp>
        <p:nvSpPr>
          <p:cNvPr id="26" name="Down Arrow 25"/>
          <p:cNvSpPr/>
          <p:nvPr/>
        </p:nvSpPr>
        <p:spPr>
          <a:xfrm>
            <a:off x="2238085" y="2075551"/>
            <a:ext cx="117774" cy="248448"/>
          </a:xfrm>
          <a:prstGeom prst="downArrow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2339035" y="2589011"/>
            <a:ext cx="1051560" cy="447207"/>
          </a:xfrm>
          <a:prstGeom prst="roundRect">
            <a:avLst>
              <a:gd name="adj" fmla="val 10000"/>
            </a:avLst>
          </a:prstGeom>
          <a:solidFill>
            <a:srgbClr val="0B2D31"/>
          </a:solidFill>
          <a:ln w="1524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339035" y="2589011"/>
            <a:ext cx="1051560" cy="44720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Microsoft YaHei"/>
              </a:rPr>
              <a:t>LLM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94A3B8"/>
                </a:solidFill>
                <a:latin typeface="Microsoft YaHei"/>
              </a:rPr>
              <a:t>理解 · 推理 · 生成</a:t>
            </a:r>
          </a:p>
        </p:txBody>
      </p:sp>
      <p:sp>
        <p:nvSpPr>
          <p:cNvPr id="29" name="Down Arrow 28"/>
          <p:cNvSpPr/>
          <p:nvPr/>
        </p:nvSpPr>
        <p:spPr>
          <a:xfrm>
            <a:off x="2751246" y="3052781"/>
            <a:ext cx="109362" cy="231885"/>
          </a:xfrm>
          <a:prstGeom prst="downArrow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Up Arrow 29"/>
          <p:cNvSpPr/>
          <p:nvPr/>
        </p:nvSpPr>
        <p:spPr>
          <a:xfrm>
            <a:off x="2885846" y="3052781"/>
            <a:ext cx="109362" cy="231885"/>
          </a:xfrm>
          <a:prstGeom prst="upArrow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2212848" y="3301230"/>
            <a:ext cx="1303934" cy="182195"/>
          </a:xfrm>
          <a:prstGeom prst="roundRect">
            <a:avLst>
              <a:gd name="adj" fmla="val 10000"/>
            </a:avLst>
          </a:prstGeom>
          <a:solidFill>
            <a:srgbClr val="563C2F"/>
          </a:solidFill>
          <a:ln w="12700">
            <a:solidFill>
              <a:srgbClr val="FB9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212848" y="3301230"/>
            <a:ext cx="1303934" cy="18219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650" b="1" i="0">
                <a:solidFill>
                  <a:srgbClr val="FB923C"/>
                </a:solidFill>
                <a:latin typeface="Microsoft YaHei"/>
              </a:rPr>
              <a:t>MCP 协议 / 工具调用总线</a:t>
            </a:r>
          </a:p>
        </p:txBody>
      </p:sp>
      <p:sp>
        <p:nvSpPr>
          <p:cNvPr id="33" name="Down Arrow 32"/>
          <p:cNvSpPr/>
          <p:nvPr/>
        </p:nvSpPr>
        <p:spPr>
          <a:xfrm>
            <a:off x="2170785" y="3499989"/>
            <a:ext cx="109362" cy="231885"/>
          </a:xfrm>
          <a:prstGeom prst="downArrow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Down Arrow 33"/>
          <p:cNvSpPr/>
          <p:nvPr/>
        </p:nvSpPr>
        <p:spPr>
          <a:xfrm>
            <a:off x="2810134" y="3499989"/>
            <a:ext cx="109362" cy="231885"/>
          </a:xfrm>
          <a:prstGeom prst="downArrow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Down Arrow 34"/>
          <p:cNvSpPr/>
          <p:nvPr/>
        </p:nvSpPr>
        <p:spPr>
          <a:xfrm>
            <a:off x="3449482" y="3499989"/>
            <a:ext cx="109362" cy="231885"/>
          </a:xfrm>
          <a:prstGeom prst="downArrow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935236" y="3748437"/>
            <a:ext cx="588873" cy="430644"/>
          </a:xfrm>
          <a:prstGeom prst="roundRect">
            <a:avLst>
              <a:gd name="adj" fmla="val 10000"/>
            </a:avLst>
          </a:prstGeom>
          <a:solidFill>
            <a:srgbClr val="172033"/>
          </a:solidFill>
          <a:ln w="1524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935236" y="3748437"/>
            <a:ext cx="588873" cy="4306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Microsoft YaHei"/>
              </a:rPr>
              <a:t>搜索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94A3B8"/>
                </a:solidFill>
                <a:latin typeface="Microsoft YaHei"/>
              </a:rPr>
              <a:t>Web 检索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574584" y="3748437"/>
            <a:ext cx="588873" cy="430644"/>
          </a:xfrm>
          <a:prstGeom prst="roundRect">
            <a:avLst>
              <a:gd name="adj" fmla="val 10000"/>
            </a:avLst>
          </a:prstGeom>
          <a:solidFill>
            <a:srgbClr val="172033"/>
          </a:solidFill>
          <a:ln w="1524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574584" y="3748437"/>
            <a:ext cx="588873" cy="4306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Microsoft YaHei"/>
              </a:rPr>
              <a:t>文件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94A3B8"/>
                </a:solidFill>
                <a:latin typeface="Microsoft YaHei"/>
              </a:rPr>
              <a:t>文档系统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213933" y="3748437"/>
            <a:ext cx="588873" cy="430644"/>
          </a:xfrm>
          <a:prstGeom prst="roundRect">
            <a:avLst>
              <a:gd name="adj" fmla="val 10000"/>
            </a:avLst>
          </a:prstGeom>
          <a:solidFill>
            <a:srgbClr val="172033"/>
          </a:solidFill>
          <a:ln w="1524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213933" y="3748437"/>
            <a:ext cx="588873" cy="4306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Microsoft YaHei"/>
              </a:rPr>
              <a:t>业务 API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94A3B8"/>
                </a:solidFill>
                <a:latin typeface="Microsoft YaHei"/>
              </a:rPr>
              <a:t>ERP · CRM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568342" y="2589011"/>
            <a:ext cx="1051560" cy="447207"/>
          </a:xfrm>
          <a:prstGeom prst="roundRect">
            <a:avLst>
              <a:gd name="adj" fmla="val 10000"/>
            </a:avLst>
          </a:prstGeom>
          <a:solidFill>
            <a:srgbClr val="0B2D31"/>
          </a:solidFill>
          <a:ln w="1524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68342" y="2589011"/>
            <a:ext cx="1051560" cy="44720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Microsoft YaHei"/>
              </a:rPr>
              <a:t>LLM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94A3B8"/>
                </a:solidFill>
                <a:latin typeface="Microsoft YaHei"/>
              </a:rPr>
              <a:t>按知识与流程作答</a:t>
            </a:r>
          </a:p>
        </p:txBody>
      </p:sp>
      <p:sp>
        <p:nvSpPr>
          <p:cNvPr id="44" name="Up Arrow 43"/>
          <p:cNvSpPr/>
          <p:nvPr/>
        </p:nvSpPr>
        <p:spPr>
          <a:xfrm>
            <a:off x="4543104" y="3069345"/>
            <a:ext cx="109362" cy="662529"/>
          </a:xfrm>
          <a:prstGeom prst="upArrow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660879" y="3317793"/>
            <a:ext cx="588873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650" b="0" i="0">
                <a:solidFill>
                  <a:srgbClr val="94A3B8"/>
                </a:solidFill>
                <a:latin typeface="Microsoft YaHei"/>
              </a:rPr>
              <a:t>检索增强</a:t>
            </a:r>
          </a:p>
        </p:txBody>
      </p:sp>
      <p:sp>
        <p:nvSpPr>
          <p:cNvPr id="46" name="Up Arrow 45"/>
          <p:cNvSpPr/>
          <p:nvPr/>
        </p:nvSpPr>
        <p:spPr>
          <a:xfrm>
            <a:off x="5510540" y="3069345"/>
            <a:ext cx="109362" cy="662529"/>
          </a:xfrm>
          <a:prstGeom prst="upArrow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628314" y="3317793"/>
            <a:ext cx="588873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650" b="0" i="0">
                <a:solidFill>
                  <a:srgbClr val="94A3B8"/>
                </a:solidFill>
                <a:latin typeface="Microsoft YaHei"/>
              </a:rPr>
              <a:t>流程规范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164543" y="3748437"/>
            <a:ext cx="883310" cy="463770"/>
          </a:xfrm>
          <a:prstGeom prst="roundRect">
            <a:avLst>
              <a:gd name="adj" fmla="val 10000"/>
            </a:avLst>
          </a:prstGeom>
          <a:solidFill>
            <a:srgbClr val="271955"/>
          </a:solidFill>
          <a:ln w="1524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164543" y="3748437"/>
            <a:ext cx="883310" cy="4637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Microsoft YaHei"/>
              </a:rPr>
              <a:t>知识库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94A3B8"/>
                </a:solidFill>
                <a:latin typeface="Microsoft YaHei"/>
              </a:rPr>
              <a:t>RAG · 向量检索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131978" y="3748437"/>
            <a:ext cx="883310" cy="463770"/>
          </a:xfrm>
          <a:prstGeom prst="roundRect">
            <a:avLst>
              <a:gd name="adj" fmla="val 10000"/>
            </a:avLst>
          </a:prstGeom>
          <a:solidFill>
            <a:srgbClr val="0C2234"/>
          </a:solidFill>
          <a:ln w="1524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131978" y="3748437"/>
            <a:ext cx="883310" cy="4637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Microsoft YaHei"/>
              </a:rPr>
              <a:t>SKILL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94A3B8"/>
                </a:solidFill>
                <a:latin typeface="Microsoft YaHei"/>
              </a:rPr>
              <a:t>业务流程 · 规范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730349" y="2589011"/>
            <a:ext cx="1144097" cy="414080"/>
          </a:xfrm>
          <a:prstGeom prst="roundRect">
            <a:avLst>
              <a:gd name="adj" fmla="val 10000"/>
            </a:avLst>
          </a:prstGeom>
          <a:solidFill>
            <a:srgbClr val="0B2D31"/>
          </a:solidFill>
          <a:ln w="1524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730349" y="2589011"/>
            <a:ext cx="1144097" cy="414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Microsoft YaHei"/>
              </a:rPr>
              <a:t>调度 Agent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94A3B8"/>
                </a:solidFill>
                <a:latin typeface="Microsoft YaHei"/>
              </a:rPr>
              <a:t>规划 · 分派 · 汇聚</a:t>
            </a:r>
          </a:p>
        </p:txBody>
      </p:sp>
      <p:sp>
        <p:nvSpPr>
          <p:cNvPr id="54" name="Down Arrow 53"/>
          <p:cNvSpPr/>
          <p:nvPr/>
        </p:nvSpPr>
        <p:spPr>
          <a:xfrm>
            <a:off x="7243511" y="3019655"/>
            <a:ext cx="109362" cy="231885"/>
          </a:xfrm>
          <a:prstGeom prst="downArrow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6503212" y="3268103"/>
            <a:ext cx="1598371" cy="165632"/>
          </a:xfrm>
          <a:prstGeom prst="roundRect">
            <a:avLst>
              <a:gd name="adj" fmla="val 10000"/>
            </a:avLst>
          </a:prstGeom>
          <a:solidFill>
            <a:srgbClr val="563C2F"/>
          </a:solidFill>
          <a:ln w="12700">
            <a:solidFill>
              <a:srgbClr val="FB9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503212" y="3268103"/>
            <a:ext cx="1598371" cy="165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650" b="1" i="0">
                <a:solidFill>
                  <a:srgbClr val="FB923C"/>
                </a:solidFill>
                <a:latin typeface="Microsoft YaHei"/>
              </a:rPr>
              <a:t>Agent 协同总线（A2A）</a:t>
            </a:r>
          </a:p>
        </p:txBody>
      </p:sp>
      <p:sp>
        <p:nvSpPr>
          <p:cNvPr id="57" name="Down Arrow 56"/>
          <p:cNvSpPr/>
          <p:nvPr/>
        </p:nvSpPr>
        <p:spPr>
          <a:xfrm>
            <a:off x="6553687" y="3450299"/>
            <a:ext cx="109362" cy="231885"/>
          </a:xfrm>
          <a:prstGeom prst="downArrow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Down Arrow 57"/>
          <p:cNvSpPr/>
          <p:nvPr/>
        </p:nvSpPr>
        <p:spPr>
          <a:xfrm>
            <a:off x="7159386" y="3450299"/>
            <a:ext cx="109362" cy="231885"/>
          </a:xfrm>
          <a:prstGeom prst="downArrow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Down Arrow 58"/>
          <p:cNvSpPr/>
          <p:nvPr/>
        </p:nvSpPr>
        <p:spPr>
          <a:xfrm>
            <a:off x="7765084" y="3450299"/>
            <a:ext cx="109362" cy="231885"/>
          </a:xfrm>
          <a:prstGeom prst="downArrow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6360200" y="3698748"/>
            <a:ext cx="504748" cy="430644"/>
          </a:xfrm>
          <a:prstGeom prst="roundRect">
            <a:avLst>
              <a:gd name="adj" fmla="val 10000"/>
            </a:avLst>
          </a:prstGeom>
          <a:solidFill>
            <a:srgbClr val="0B2D31"/>
          </a:solidFill>
          <a:ln w="1524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360200" y="3698748"/>
            <a:ext cx="504748" cy="4306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Microsoft YaHei"/>
              </a:rPr>
              <a:t>检索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94A3B8"/>
                </a:solidFill>
                <a:latin typeface="Microsoft YaHei"/>
              </a:rPr>
              <a:t>Agent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965899" y="3698748"/>
            <a:ext cx="504748" cy="430644"/>
          </a:xfrm>
          <a:prstGeom prst="roundRect">
            <a:avLst>
              <a:gd name="adj" fmla="val 10000"/>
            </a:avLst>
          </a:prstGeom>
          <a:solidFill>
            <a:srgbClr val="0B2D31"/>
          </a:solidFill>
          <a:ln w="1524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965899" y="3698748"/>
            <a:ext cx="504748" cy="4306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Microsoft YaHei"/>
              </a:rPr>
              <a:t>分析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94A3B8"/>
                </a:solidFill>
                <a:latin typeface="Microsoft YaHei"/>
              </a:rPr>
              <a:t>Agent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7571597" y="3698748"/>
            <a:ext cx="504748" cy="430644"/>
          </a:xfrm>
          <a:prstGeom prst="roundRect">
            <a:avLst>
              <a:gd name="adj" fmla="val 10000"/>
            </a:avLst>
          </a:prstGeom>
          <a:solidFill>
            <a:srgbClr val="0B2D31"/>
          </a:solidFill>
          <a:ln w="1524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571597" y="3698748"/>
            <a:ext cx="504748" cy="4306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Microsoft YaHei"/>
              </a:rPr>
              <a:t>执行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94A3B8"/>
                </a:solidFill>
                <a:latin typeface="Microsoft YaHei"/>
              </a:rPr>
              <a:t>Agent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814474" y="3831253"/>
            <a:ext cx="20189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00" b="1" i="0">
                <a:solidFill>
                  <a:srgbClr val="34D399"/>
                </a:solidFill>
                <a:latin typeface="Microsoft YaHei"/>
              </a:rPr>
              <a:t>⇄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420173" y="3831253"/>
            <a:ext cx="20189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00" b="1" i="0">
                <a:solidFill>
                  <a:srgbClr val="34D399"/>
                </a:solidFill>
                <a:latin typeface="Microsoft YaHei"/>
              </a:rPr>
              <a:t>⇄</a:t>
            </a:r>
          </a:p>
        </p:txBody>
      </p:sp>
      <p:sp>
        <p:nvSpPr>
          <p:cNvPr id="68" name="Up Arrow 67"/>
          <p:cNvSpPr/>
          <p:nvPr/>
        </p:nvSpPr>
        <p:spPr>
          <a:xfrm>
            <a:off x="8143646" y="2903712"/>
            <a:ext cx="100949" cy="977230"/>
          </a:xfrm>
          <a:prstGeom prst="upArrow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269833" y="2981710"/>
            <a:ext cx="18288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650" b="1" i="0">
                <a:solidFill>
                  <a:srgbClr val="FBBF24"/>
                </a:solidFill>
                <a:latin typeface="Microsoft YaHei"/>
              </a:rPr>
              <a:t>自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650" b="1" i="0">
                <a:solidFill>
                  <a:srgbClr val="FBBF24"/>
                </a:solidFill>
                <a:latin typeface="Microsoft YaHei"/>
              </a:rPr>
              <a:t>适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650" b="1" i="0">
                <a:solidFill>
                  <a:srgbClr val="FBBF24"/>
                </a:solidFill>
                <a:latin typeface="Microsoft YaHei"/>
              </a:rPr>
              <a:t>应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650" b="1" i="0">
                <a:solidFill>
                  <a:srgbClr val="FBBF24"/>
                </a:solidFill>
                <a:latin typeface="Microsoft YaHei"/>
              </a:rPr>
              <a:t>反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650" b="1" i="0">
                <a:solidFill>
                  <a:srgbClr val="FBBF24"/>
                </a:solidFill>
                <a:latin typeface="Microsoft YaHei"/>
              </a:rPr>
              <a:t>馈</a:t>
            </a:r>
          </a:p>
        </p:txBody>
      </p:sp>
      <p:sp>
        <p:nvSpPr>
          <p:cNvPr id="70" name="Right Arrow 69"/>
          <p:cNvSpPr/>
          <p:nvPr/>
        </p:nvSpPr>
        <p:spPr>
          <a:xfrm>
            <a:off x="3912168" y="3516552"/>
            <a:ext cx="143012" cy="132505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ight Arrow 70"/>
          <p:cNvSpPr/>
          <p:nvPr/>
        </p:nvSpPr>
        <p:spPr>
          <a:xfrm>
            <a:off x="6141476" y="3516552"/>
            <a:ext cx="143012" cy="132505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Down Arrow 71"/>
          <p:cNvSpPr/>
          <p:nvPr/>
        </p:nvSpPr>
        <p:spPr>
          <a:xfrm>
            <a:off x="2801721" y="4841611"/>
            <a:ext cx="109362" cy="265011"/>
          </a:xfrm>
          <a:prstGeom prst="down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Down Arrow 72"/>
          <p:cNvSpPr/>
          <p:nvPr/>
        </p:nvSpPr>
        <p:spPr>
          <a:xfrm>
            <a:off x="5031028" y="4841611"/>
            <a:ext cx="109362" cy="265011"/>
          </a:xfrm>
          <a:prstGeom prst="down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Down Arrow 73"/>
          <p:cNvSpPr/>
          <p:nvPr/>
        </p:nvSpPr>
        <p:spPr>
          <a:xfrm>
            <a:off x="7243511" y="4841611"/>
            <a:ext cx="109362" cy="265011"/>
          </a:xfrm>
          <a:prstGeom prst="down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666036" y="4924427"/>
            <a:ext cx="6856171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00" b="1" i="0">
                <a:solidFill>
                  <a:srgbClr val="FBBF24"/>
                </a:solidFill>
                <a:latin typeface="Microsoft YaHei"/>
              </a:rPr>
              <a:t>HARNESS 统一能力底座（场景 1 / 2 / 3 共享）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1918411" y="5156312"/>
            <a:ext cx="1480596" cy="447207"/>
          </a:xfrm>
          <a:prstGeom prst="roundRect">
            <a:avLst>
              <a:gd name="adj" fmla="val 10000"/>
            </a:avLst>
          </a:prstGeom>
          <a:solidFill>
            <a:srgbClr val="271955"/>
          </a:solidFill>
          <a:ln w="1524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918411" y="5156312"/>
            <a:ext cx="1480596" cy="44720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Microsoft YaHei"/>
              </a:rPr>
              <a:t>上下文 · 记忆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94A3B8"/>
                </a:solidFill>
                <a:latin typeface="Microsoft YaHei"/>
              </a:rPr>
              <a:t>Context · Memory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3542019" y="5156312"/>
            <a:ext cx="1480596" cy="447207"/>
          </a:xfrm>
          <a:prstGeom prst="roundRect">
            <a:avLst>
              <a:gd name="adj" fmla="val 10000"/>
            </a:avLst>
          </a:prstGeom>
          <a:solidFill>
            <a:srgbClr val="563C2F"/>
          </a:solidFill>
          <a:ln w="15240">
            <a:solidFill>
              <a:srgbClr val="FB9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3542019" y="5156312"/>
            <a:ext cx="1480596" cy="44720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Microsoft YaHei"/>
              </a:rPr>
              <a:t>工具 / MCP 路由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94A3B8"/>
                </a:solidFill>
                <a:latin typeface="Microsoft YaHei"/>
              </a:rPr>
              <a:t>Tool Router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5165628" y="5156312"/>
            <a:ext cx="1480596" cy="447207"/>
          </a:xfrm>
          <a:prstGeom prst="roundRect">
            <a:avLst>
              <a:gd name="adj" fmla="val 10000"/>
            </a:avLst>
          </a:prstGeom>
          <a:solidFill>
            <a:srgbClr val="0C2234"/>
          </a:solidFill>
          <a:ln w="1524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165628" y="5156312"/>
            <a:ext cx="1480596" cy="44720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Microsoft YaHei"/>
              </a:rPr>
              <a:t>知识 · SKILL 加载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94A3B8"/>
                </a:solidFill>
                <a:latin typeface="Microsoft YaHei"/>
              </a:rPr>
              <a:t>RAG · Skill Loader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6789237" y="5156312"/>
            <a:ext cx="1480596" cy="447207"/>
          </a:xfrm>
          <a:prstGeom prst="roundRect">
            <a:avLst>
              <a:gd name="adj" fmla="val 10000"/>
            </a:avLst>
          </a:prstGeom>
          <a:solidFill>
            <a:srgbClr val="3F152F"/>
          </a:solidFill>
          <a:ln w="15240">
            <a:solidFill>
              <a:srgbClr val="FB71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789237" y="5156312"/>
            <a:ext cx="1480596" cy="44720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Microsoft YaHei"/>
              </a:rPr>
              <a:t>权限 · 安全护栏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94A3B8"/>
                </a:solidFill>
                <a:latin typeface="Microsoft YaHei"/>
              </a:rPr>
              <a:t>Guardrails · Audit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834286" y="5951347"/>
            <a:ext cx="100949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00" b="1" i="0">
                <a:solidFill>
                  <a:srgbClr val="FFFFFF"/>
                </a:solidFill>
                <a:latin typeface="Microsoft YaHei"/>
              </a:rPr>
              <a:t>Legend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1834286" y="6150106"/>
            <a:ext cx="155448" cy="91440"/>
          </a:xfrm>
          <a:prstGeom prst="roundRect">
            <a:avLst>
              <a:gd name="adj" fmla="val 10000"/>
            </a:avLst>
          </a:prstGeom>
          <a:solidFill>
            <a:srgbClr val="0C2234"/>
          </a:solidFill>
          <a:ln w="952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2019360" y="6116980"/>
            <a:ext cx="967435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700" b="0" i="0">
                <a:solidFill>
                  <a:srgbClr val="94A3B8"/>
                </a:solidFill>
                <a:latin typeface="Microsoft YaHei"/>
              </a:rPr>
              <a:t>交互 / 入口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2843784" y="6150106"/>
            <a:ext cx="155448" cy="91440"/>
          </a:xfrm>
          <a:prstGeom prst="roundRect">
            <a:avLst>
              <a:gd name="adj" fmla="val 10000"/>
            </a:avLst>
          </a:prstGeom>
          <a:solidFill>
            <a:srgbClr val="0B2D31"/>
          </a:solidFill>
          <a:ln w="952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3028858" y="6116980"/>
            <a:ext cx="967435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700" b="0" i="0">
                <a:solidFill>
                  <a:srgbClr val="94A3B8"/>
                </a:solidFill>
                <a:latin typeface="Microsoft YaHei"/>
              </a:rPr>
              <a:t>LLM / Agent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3853281" y="6150106"/>
            <a:ext cx="155448" cy="91440"/>
          </a:xfrm>
          <a:prstGeom prst="roundRect">
            <a:avLst>
              <a:gd name="adj" fmla="val 10000"/>
            </a:avLst>
          </a:prstGeom>
          <a:solidFill>
            <a:srgbClr val="271955"/>
          </a:solidFill>
          <a:ln w="9525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4038356" y="6116980"/>
            <a:ext cx="967435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700" b="0" i="0">
                <a:solidFill>
                  <a:srgbClr val="94A3B8"/>
                </a:solidFill>
                <a:latin typeface="Microsoft YaHei"/>
              </a:rPr>
              <a:t>知识 / 记忆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4862779" y="6150106"/>
            <a:ext cx="155448" cy="91440"/>
          </a:xfrm>
          <a:prstGeom prst="roundRect">
            <a:avLst>
              <a:gd name="adj" fmla="val 10000"/>
            </a:avLst>
          </a:prstGeom>
          <a:solidFill>
            <a:srgbClr val="563C2F"/>
          </a:solidFill>
          <a:ln w="9525">
            <a:solidFill>
              <a:srgbClr val="FB9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5047853" y="6116980"/>
            <a:ext cx="967435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700" b="0" i="0">
                <a:solidFill>
                  <a:srgbClr val="94A3B8"/>
                </a:solidFill>
                <a:latin typeface="Microsoft YaHei"/>
              </a:rPr>
              <a:t>协同 / 工具总线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6124651" y="6150106"/>
            <a:ext cx="155448" cy="91440"/>
          </a:xfrm>
          <a:prstGeom prst="roundRect">
            <a:avLst>
              <a:gd name="adj" fmla="val 10000"/>
            </a:avLst>
          </a:prstGeom>
          <a:solidFill>
            <a:srgbClr val="3F152F"/>
          </a:solidFill>
          <a:ln w="9525">
            <a:solidFill>
              <a:srgbClr val="FB71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6309725" y="6116980"/>
            <a:ext cx="967435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700" b="0" i="0">
                <a:solidFill>
                  <a:srgbClr val="94A3B8"/>
                </a:solidFill>
                <a:latin typeface="Microsoft YaHei"/>
              </a:rPr>
              <a:t>安全护栏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7050023" y="6150106"/>
            <a:ext cx="155448" cy="91440"/>
          </a:xfrm>
          <a:prstGeom prst="roundRect">
            <a:avLst>
              <a:gd name="adj" fmla="val 10000"/>
            </a:avLst>
          </a:prstGeom>
          <a:noFill/>
          <a:ln w="9525">
            <a:solidFill>
              <a:srgbClr val="FBBF2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7235098" y="6116980"/>
            <a:ext cx="134599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700" b="0" i="0">
                <a:solidFill>
                  <a:srgbClr val="94A3B8"/>
                </a:solidFill>
                <a:latin typeface="Microsoft YaHei"/>
              </a:rPr>
              <a:t>Harness 边界（场景 4）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8942832" y="932688"/>
            <a:ext cx="2928823" cy="1755648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9089136" y="1078992"/>
            <a:ext cx="91440" cy="9144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9253728" y="1014984"/>
            <a:ext cx="2517343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FFFFFF"/>
                </a:solidFill>
                <a:latin typeface="Microsoft YaHei"/>
              </a:rPr>
              <a:t>场景演进 1 → 2 → 3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9107424" y="1316736"/>
            <a:ext cx="26179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94A3B8"/>
                </a:solidFill>
                <a:latin typeface="Microsoft YaHei"/>
              </a:rPr>
              <a:t>• 场景 1：LLM + MCP 工具，简单问答与内容生成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94A3B8"/>
                </a:solidFill>
                <a:latin typeface="Microsoft YaHei"/>
              </a:rPr>
              <a:t>• 场景 2：LLM + RAG/SKILL，知识定边界、流程有章法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94A3B8"/>
                </a:solidFill>
                <a:latin typeface="Microsoft YaHei"/>
              </a:rPr>
              <a:t>• 场景 3：多 Agent 调度、协同、自适应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94A3B8"/>
                </a:solidFill>
                <a:latin typeface="Microsoft YaHei"/>
              </a:rPr>
              <a:t>• 由简到繁，能力逐级叠加而非互相替代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8942832" y="2816352"/>
            <a:ext cx="2928823" cy="1755648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9089136" y="2962656"/>
            <a:ext cx="91440" cy="91440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9253728" y="2898648"/>
            <a:ext cx="2517343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FFFFFF"/>
                </a:solidFill>
                <a:latin typeface="Microsoft YaHei"/>
              </a:rPr>
              <a:t>场景 4 · Harness 的内涵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9107424" y="3200400"/>
            <a:ext cx="26179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94A3B8"/>
                </a:solidFill>
                <a:latin typeface="Microsoft YaHei"/>
              </a:rPr>
              <a:t>• 一个大框把场景 1 / 2 / 3 全部包含在内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94A3B8"/>
                </a:solidFill>
                <a:latin typeface="Microsoft YaHei"/>
              </a:rPr>
              <a:t>• 统一上下文与记忆，跨场景共享状态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94A3B8"/>
                </a:solidFill>
                <a:latin typeface="Microsoft YaHei"/>
              </a:rPr>
              <a:t>• 统一工具 / MCP 路由与知识 · SKILL 加载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94A3B8"/>
                </a:solidFill>
                <a:latin typeface="Microsoft YaHei"/>
              </a:rPr>
              <a:t>• 统一多 Agent 调度与生命周期管理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8942832" y="4700016"/>
            <a:ext cx="2928823" cy="1755648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9089136" y="4846320"/>
            <a:ext cx="91440" cy="91440"/>
          </a:xfrm>
          <a:prstGeom prst="ellipse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9253728" y="4782312"/>
            <a:ext cx="2517343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FFFFFF"/>
                </a:solidFill>
                <a:latin typeface="Microsoft YaHei"/>
              </a:rPr>
              <a:t>运行与治理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9107424" y="5084064"/>
            <a:ext cx="26179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94A3B8"/>
                </a:solidFill>
                <a:latin typeface="Microsoft YaHei"/>
              </a:rPr>
              <a:t>• 权限最小化：工具与数据访问经护栏审批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94A3B8"/>
                </a:solidFill>
                <a:latin typeface="Microsoft YaHei"/>
              </a:rPr>
              <a:t>• 全链路审计：每次调用可观测、可回放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94A3B8"/>
                </a:solidFill>
                <a:latin typeface="Microsoft YaHei"/>
              </a:rPr>
              <a:t>• 自适应反馈：执行结果回流调度层动态调整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94A3B8"/>
                </a:solidFill>
                <a:latin typeface="Microsoft YaHei"/>
              </a:rPr>
              <a:t>• 结果回流业务：产出交付给企业用户与系统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320040" y="6547104"/>
            <a:ext cx="1154887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700" b="0" i="0">
                <a:solidFill>
                  <a:srgbClr val="475569"/>
                </a:solidFill>
                <a:latin typeface="Microsoft YaHei"/>
              </a:rPr>
              <a:t>Agentic AI 原生架构 • 场景 1 工具 / 场景 2 知识 / 场景 3 协同 / 场景 4 Harness • chenliang · 2026-07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